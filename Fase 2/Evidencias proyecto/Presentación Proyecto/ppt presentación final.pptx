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Poppins" charset="1" panose="00000500000000000000"/>
      <p:regular r:id="rId17"/>
    </p:embeddedFont>
    <p:embeddedFont>
      <p:font typeface="Poppins Bold" charset="1" panose="00000800000000000000"/>
      <p:regular r:id="rId18"/>
    </p:embeddedFont>
    <p:embeddedFont>
      <p:font typeface="HK Grotesk Medium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.jpeg" Type="http://schemas.openxmlformats.org/officeDocument/2006/relationships/image"/><Relationship Id="rId4" Target="../media/image4.png" Type="http://schemas.openxmlformats.org/officeDocument/2006/relationships/image"/><Relationship Id="rId5" Target="../media/image5.svg" Type="http://schemas.openxmlformats.org/officeDocument/2006/relationships/image"/><Relationship Id="rId6" Target="../media/image6.png" Type="http://schemas.openxmlformats.org/officeDocument/2006/relationships/image"/><Relationship Id="rId7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Relationship Id="rId4" Target="../media/image9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5.pn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Relationship Id="rId8" Target="../media/image20.png" Type="http://schemas.openxmlformats.org/officeDocument/2006/relationships/image"/><Relationship Id="rId9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9.svg" Type="http://schemas.openxmlformats.org/officeDocument/2006/relationships/image"/><Relationship Id="rId11" Target="../media/image30.jpeg" Type="http://schemas.openxmlformats.org/officeDocument/2006/relationships/image"/><Relationship Id="rId12" Target="../media/image31.jpeg" Type="http://schemas.openxmlformats.org/officeDocument/2006/relationships/image"/><Relationship Id="rId2" Target="../media/image1.jpeg" Type="http://schemas.openxmlformats.org/officeDocument/2006/relationships/image"/><Relationship Id="rId3" Target="../media/image22.png" Type="http://schemas.openxmlformats.org/officeDocument/2006/relationships/image"/><Relationship Id="rId4" Target="../media/image23.svg" Type="http://schemas.openxmlformats.org/officeDocument/2006/relationships/image"/><Relationship Id="rId5" Target="../media/image24.png" Type="http://schemas.openxmlformats.org/officeDocument/2006/relationships/image"/><Relationship Id="rId6" Target="../media/image25.svg" Type="http://schemas.openxmlformats.org/officeDocument/2006/relationships/image"/><Relationship Id="rId7" Target="../media/image26.png" Type="http://schemas.openxmlformats.org/officeDocument/2006/relationships/image"/><Relationship Id="rId8" Target="../media/image27.svg" Type="http://schemas.openxmlformats.org/officeDocument/2006/relationships/image"/><Relationship Id="rId9" Target="../media/image2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2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solidFill>
              <a:srgbClr val="30C2B7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8281243">
            <a:off x="11245708" y="8675631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12730370" y="2272825"/>
            <a:ext cx="6411518" cy="12686290"/>
            <a:chOff x="0" y="0"/>
            <a:chExt cx="2620010" cy="51841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3340" y="25400"/>
              <a:ext cx="2513330" cy="5132070"/>
            </a:xfrm>
            <a:custGeom>
              <a:avLst/>
              <a:gdLst/>
              <a:ahLst/>
              <a:cxnLst/>
              <a:rect r="r" b="b" t="t" l="l"/>
              <a:pathLst>
                <a:path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85420" y="156210"/>
              <a:ext cx="2251710" cy="4876800"/>
            </a:xfrm>
            <a:custGeom>
              <a:avLst/>
              <a:gdLst/>
              <a:ahLst/>
              <a:cxnLst/>
              <a:rect r="r" b="b" t="t" l="l"/>
              <a:pathLst>
                <a:path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58351" t="0" r="-58351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121410" y="198120"/>
              <a:ext cx="347980" cy="43180"/>
            </a:xfrm>
            <a:custGeom>
              <a:avLst/>
              <a:gdLst/>
              <a:ahLst/>
              <a:cxnLst/>
              <a:rect r="r" b="b" t="t" l="l"/>
              <a:pathLst>
                <a:path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578312" y="187909"/>
              <a:ext cx="66636" cy="63602"/>
            </a:xfrm>
            <a:custGeom>
              <a:avLst/>
              <a:gdLst/>
              <a:ahLst/>
              <a:cxnLst/>
              <a:rect r="r" b="b" t="t" l="l"/>
              <a:pathLst>
                <a:path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685800"/>
              <a:ext cx="27940" cy="213360"/>
            </a:xfrm>
            <a:custGeom>
              <a:avLst/>
              <a:gdLst/>
              <a:ahLst/>
              <a:cxnLst/>
              <a:rect r="r" b="b" t="t" l="l"/>
              <a:pathLst>
                <a:path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70E1BF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1057910"/>
              <a:ext cx="27940" cy="384810"/>
            </a:xfrm>
            <a:custGeom>
              <a:avLst/>
              <a:gdLst/>
              <a:ahLst/>
              <a:cxnLst/>
              <a:rect r="r" b="b" t="t" l="l"/>
              <a:pathLst>
                <a:path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70E1BF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1526540"/>
              <a:ext cx="27940" cy="386080"/>
            </a:xfrm>
            <a:custGeom>
              <a:avLst/>
              <a:gdLst/>
              <a:ahLst/>
              <a:cxnLst/>
              <a:rect r="r" b="b" t="t" l="l"/>
              <a:pathLst>
                <a:path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70E1BF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92070" y="1184910"/>
              <a:ext cx="27940" cy="618490"/>
            </a:xfrm>
            <a:custGeom>
              <a:avLst/>
              <a:gdLst/>
              <a:ahLst/>
              <a:cxnLst/>
              <a:rect r="r" b="b" t="t" l="l"/>
              <a:pathLst>
                <a:path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70E1BF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27940" y="0"/>
              <a:ext cx="2564130" cy="5182870"/>
            </a:xfrm>
            <a:custGeom>
              <a:avLst/>
              <a:gdLst/>
              <a:ahLst/>
              <a:cxnLst/>
              <a:rect r="r" b="b" t="t" l="l"/>
              <a:pathLst>
                <a:path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00AFA5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558540" y="3009068"/>
            <a:ext cx="7276292" cy="375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7"/>
              </a:lnSpc>
            </a:pPr>
            <a:r>
              <a:rPr lang="en-US" sz="2105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comparador de precios de productos para mascotas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558540" y="4290014"/>
            <a:ext cx="6811366" cy="177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Equipo Axel, Diego 1, Diego 2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Carrera Ingeniería Informática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Asignatura Capstone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Sede PAO</a:t>
            </a:r>
          </a:p>
          <a:p>
            <a:pPr algn="l">
              <a:lnSpc>
                <a:spcPts val="2800"/>
              </a:lnSpc>
            </a:pPr>
            <a:r>
              <a:rPr lang="en-US" sz="20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Profesor Arturo Vargas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58540" y="1838489"/>
            <a:ext cx="5969238" cy="1227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52"/>
              </a:lnSpc>
            </a:pPr>
            <a:r>
              <a:rPr lang="en-US" sz="9079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PetPrice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671246" y="1838489"/>
            <a:ext cx="3397318" cy="1227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352"/>
              </a:lnSpc>
            </a:pPr>
            <a:r>
              <a:rPr lang="en-US" b="true" sz="9079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App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8281243">
            <a:off x="16394865" y="8648990"/>
            <a:ext cx="3086100" cy="308610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98296" y="1999182"/>
            <a:ext cx="6437639" cy="6288635"/>
            <a:chOff x="0" y="0"/>
            <a:chExt cx="4828540" cy="47167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-7620"/>
              <a:ext cx="4833620" cy="4726940"/>
            </a:xfrm>
            <a:custGeom>
              <a:avLst/>
              <a:gdLst/>
              <a:ahLst/>
              <a:cxnLst/>
              <a:rect r="r" b="b" t="t" l="l"/>
              <a:pathLst>
                <a:path h="4726940" w="4833620">
                  <a:moveTo>
                    <a:pt x="3416300" y="4662170"/>
                  </a:moveTo>
                  <a:cubicBezTo>
                    <a:pt x="3388360" y="4669790"/>
                    <a:pt x="3366770" y="4679950"/>
                    <a:pt x="3345180" y="4682490"/>
                  </a:cubicBezTo>
                  <a:cubicBezTo>
                    <a:pt x="3223260" y="4692650"/>
                    <a:pt x="3102610" y="4702810"/>
                    <a:pt x="2980690" y="4711700"/>
                  </a:cubicBezTo>
                  <a:cubicBezTo>
                    <a:pt x="2918460" y="4715510"/>
                    <a:pt x="2856230" y="4719320"/>
                    <a:pt x="2794000" y="4720590"/>
                  </a:cubicBezTo>
                  <a:cubicBezTo>
                    <a:pt x="2726690" y="4723130"/>
                    <a:pt x="2659380" y="4726940"/>
                    <a:pt x="2593340" y="4724400"/>
                  </a:cubicBezTo>
                  <a:cubicBezTo>
                    <a:pt x="2529840" y="4723130"/>
                    <a:pt x="2466340" y="4719320"/>
                    <a:pt x="2405380" y="4707890"/>
                  </a:cubicBezTo>
                  <a:cubicBezTo>
                    <a:pt x="2326640" y="4693920"/>
                    <a:pt x="2246630" y="4693920"/>
                    <a:pt x="2169160" y="4681220"/>
                  </a:cubicBezTo>
                  <a:cubicBezTo>
                    <a:pt x="1967230" y="4648200"/>
                    <a:pt x="1761490" y="4657090"/>
                    <a:pt x="1558290" y="4643120"/>
                  </a:cubicBezTo>
                  <a:cubicBezTo>
                    <a:pt x="1443990" y="4635500"/>
                    <a:pt x="1329690" y="4617720"/>
                    <a:pt x="1215390" y="4602480"/>
                  </a:cubicBezTo>
                  <a:cubicBezTo>
                    <a:pt x="1085850" y="4585970"/>
                    <a:pt x="956310" y="4566920"/>
                    <a:pt x="825500" y="4549140"/>
                  </a:cubicBezTo>
                  <a:cubicBezTo>
                    <a:pt x="730250" y="4536440"/>
                    <a:pt x="633730" y="4523740"/>
                    <a:pt x="538480" y="4511040"/>
                  </a:cubicBezTo>
                  <a:cubicBezTo>
                    <a:pt x="535940" y="4511040"/>
                    <a:pt x="533400" y="4509770"/>
                    <a:pt x="530860" y="4509770"/>
                  </a:cubicBezTo>
                  <a:cubicBezTo>
                    <a:pt x="450850" y="4475480"/>
                    <a:pt x="365760" y="4448810"/>
                    <a:pt x="292100" y="4404360"/>
                  </a:cubicBezTo>
                  <a:cubicBezTo>
                    <a:pt x="167640" y="4328160"/>
                    <a:pt x="114300" y="4206240"/>
                    <a:pt x="109220" y="4062730"/>
                  </a:cubicBezTo>
                  <a:cubicBezTo>
                    <a:pt x="107950" y="4013200"/>
                    <a:pt x="101600" y="3964940"/>
                    <a:pt x="101600" y="3915410"/>
                  </a:cubicBezTo>
                  <a:cubicBezTo>
                    <a:pt x="102870" y="3846830"/>
                    <a:pt x="107950" y="3779520"/>
                    <a:pt x="111760" y="3712210"/>
                  </a:cubicBezTo>
                  <a:cubicBezTo>
                    <a:pt x="121920" y="3511550"/>
                    <a:pt x="127000" y="3310890"/>
                    <a:pt x="111760" y="3110230"/>
                  </a:cubicBezTo>
                  <a:cubicBezTo>
                    <a:pt x="97790" y="2929890"/>
                    <a:pt x="85090" y="2750820"/>
                    <a:pt x="71120" y="2570480"/>
                  </a:cubicBezTo>
                  <a:cubicBezTo>
                    <a:pt x="62230" y="2454910"/>
                    <a:pt x="50800" y="2340610"/>
                    <a:pt x="43180" y="2225040"/>
                  </a:cubicBezTo>
                  <a:cubicBezTo>
                    <a:pt x="38100" y="2148840"/>
                    <a:pt x="39370" y="2071370"/>
                    <a:pt x="34290" y="1995170"/>
                  </a:cubicBezTo>
                  <a:cubicBezTo>
                    <a:pt x="31750" y="1951990"/>
                    <a:pt x="17780" y="1910080"/>
                    <a:pt x="16510" y="1866900"/>
                  </a:cubicBezTo>
                  <a:cubicBezTo>
                    <a:pt x="11430" y="1762760"/>
                    <a:pt x="10160" y="1657350"/>
                    <a:pt x="7620" y="1551940"/>
                  </a:cubicBezTo>
                  <a:cubicBezTo>
                    <a:pt x="6350" y="1511300"/>
                    <a:pt x="0" y="1470660"/>
                    <a:pt x="1270" y="1430020"/>
                  </a:cubicBezTo>
                  <a:cubicBezTo>
                    <a:pt x="2540" y="1366520"/>
                    <a:pt x="10160" y="1303020"/>
                    <a:pt x="11430" y="1239520"/>
                  </a:cubicBezTo>
                  <a:cubicBezTo>
                    <a:pt x="12700" y="1165860"/>
                    <a:pt x="5080" y="1092200"/>
                    <a:pt x="7620" y="1019810"/>
                  </a:cubicBezTo>
                  <a:cubicBezTo>
                    <a:pt x="7620" y="949960"/>
                    <a:pt x="16510" y="881380"/>
                    <a:pt x="25400" y="811530"/>
                  </a:cubicBezTo>
                  <a:cubicBezTo>
                    <a:pt x="27940" y="787400"/>
                    <a:pt x="45720" y="765810"/>
                    <a:pt x="50800" y="741680"/>
                  </a:cubicBezTo>
                  <a:cubicBezTo>
                    <a:pt x="72390" y="622300"/>
                    <a:pt x="95250" y="502920"/>
                    <a:pt x="151130" y="392430"/>
                  </a:cubicBezTo>
                  <a:cubicBezTo>
                    <a:pt x="163830" y="368300"/>
                    <a:pt x="184150" y="346710"/>
                    <a:pt x="203200" y="327660"/>
                  </a:cubicBezTo>
                  <a:cubicBezTo>
                    <a:pt x="209550" y="321310"/>
                    <a:pt x="224790" y="325120"/>
                    <a:pt x="228600" y="325120"/>
                  </a:cubicBezTo>
                  <a:cubicBezTo>
                    <a:pt x="237490" y="308610"/>
                    <a:pt x="242570" y="292100"/>
                    <a:pt x="252730" y="284480"/>
                  </a:cubicBezTo>
                  <a:cubicBezTo>
                    <a:pt x="307340" y="242570"/>
                    <a:pt x="364490" y="212090"/>
                    <a:pt x="435610" y="204470"/>
                  </a:cubicBezTo>
                  <a:cubicBezTo>
                    <a:pt x="488950" y="198120"/>
                    <a:pt x="541020" y="175260"/>
                    <a:pt x="594360" y="162560"/>
                  </a:cubicBezTo>
                  <a:cubicBezTo>
                    <a:pt x="659130" y="147320"/>
                    <a:pt x="723900" y="129540"/>
                    <a:pt x="791210" y="120650"/>
                  </a:cubicBezTo>
                  <a:cubicBezTo>
                    <a:pt x="852170" y="113030"/>
                    <a:pt x="910590" y="96520"/>
                    <a:pt x="972820" y="91440"/>
                  </a:cubicBezTo>
                  <a:cubicBezTo>
                    <a:pt x="1036320" y="86360"/>
                    <a:pt x="1099820" y="71120"/>
                    <a:pt x="1164590" y="66040"/>
                  </a:cubicBezTo>
                  <a:cubicBezTo>
                    <a:pt x="1339850" y="53340"/>
                    <a:pt x="1516380" y="44450"/>
                    <a:pt x="1691640" y="34290"/>
                  </a:cubicBezTo>
                  <a:cubicBezTo>
                    <a:pt x="1734820" y="31750"/>
                    <a:pt x="1778000" y="34290"/>
                    <a:pt x="1821180" y="35560"/>
                  </a:cubicBezTo>
                  <a:cubicBezTo>
                    <a:pt x="1842770" y="36830"/>
                    <a:pt x="1864360" y="41910"/>
                    <a:pt x="1887220" y="44450"/>
                  </a:cubicBezTo>
                  <a:cubicBezTo>
                    <a:pt x="1897380" y="45720"/>
                    <a:pt x="1907540" y="41910"/>
                    <a:pt x="1917700" y="41910"/>
                  </a:cubicBezTo>
                  <a:cubicBezTo>
                    <a:pt x="1948180" y="41910"/>
                    <a:pt x="1979930" y="41910"/>
                    <a:pt x="2010410" y="40640"/>
                  </a:cubicBezTo>
                  <a:cubicBezTo>
                    <a:pt x="2068830" y="38100"/>
                    <a:pt x="2128520" y="31750"/>
                    <a:pt x="2186940" y="31750"/>
                  </a:cubicBezTo>
                  <a:cubicBezTo>
                    <a:pt x="2244090" y="31750"/>
                    <a:pt x="2301240" y="35560"/>
                    <a:pt x="2358390" y="38100"/>
                  </a:cubicBezTo>
                  <a:lnTo>
                    <a:pt x="2404110" y="38100"/>
                  </a:lnTo>
                  <a:cubicBezTo>
                    <a:pt x="2473960" y="35560"/>
                    <a:pt x="2542540" y="35560"/>
                    <a:pt x="2612390" y="31750"/>
                  </a:cubicBezTo>
                  <a:cubicBezTo>
                    <a:pt x="2679700" y="27940"/>
                    <a:pt x="2745740" y="19050"/>
                    <a:pt x="2813050" y="15240"/>
                  </a:cubicBezTo>
                  <a:cubicBezTo>
                    <a:pt x="2844800" y="12700"/>
                    <a:pt x="2877820" y="12700"/>
                    <a:pt x="2909570" y="19050"/>
                  </a:cubicBezTo>
                  <a:cubicBezTo>
                    <a:pt x="2957830" y="27940"/>
                    <a:pt x="3003550" y="33020"/>
                    <a:pt x="3051810" y="19050"/>
                  </a:cubicBezTo>
                  <a:cubicBezTo>
                    <a:pt x="3069590" y="13970"/>
                    <a:pt x="3092450" y="22860"/>
                    <a:pt x="3112770" y="25400"/>
                  </a:cubicBezTo>
                  <a:cubicBezTo>
                    <a:pt x="3121660" y="26670"/>
                    <a:pt x="3131820" y="29210"/>
                    <a:pt x="3136900" y="25400"/>
                  </a:cubicBezTo>
                  <a:cubicBezTo>
                    <a:pt x="3171190" y="0"/>
                    <a:pt x="3202940" y="6350"/>
                    <a:pt x="3235960" y="27940"/>
                  </a:cubicBezTo>
                  <a:cubicBezTo>
                    <a:pt x="3239770" y="30480"/>
                    <a:pt x="3249930" y="24130"/>
                    <a:pt x="3257550" y="24130"/>
                  </a:cubicBezTo>
                  <a:cubicBezTo>
                    <a:pt x="3288030" y="24130"/>
                    <a:pt x="3318510" y="24130"/>
                    <a:pt x="3350260" y="25400"/>
                  </a:cubicBezTo>
                  <a:cubicBezTo>
                    <a:pt x="3373120" y="26670"/>
                    <a:pt x="3394710" y="34290"/>
                    <a:pt x="3417570" y="36830"/>
                  </a:cubicBezTo>
                  <a:cubicBezTo>
                    <a:pt x="3467100" y="43180"/>
                    <a:pt x="3517900" y="53340"/>
                    <a:pt x="3568700" y="53340"/>
                  </a:cubicBezTo>
                  <a:cubicBezTo>
                    <a:pt x="3663950" y="54610"/>
                    <a:pt x="3759200" y="58420"/>
                    <a:pt x="3853180" y="78740"/>
                  </a:cubicBezTo>
                  <a:cubicBezTo>
                    <a:pt x="3940810" y="97790"/>
                    <a:pt x="4030980" y="97790"/>
                    <a:pt x="4119880" y="113030"/>
                  </a:cubicBezTo>
                  <a:cubicBezTo>
                    <a:pt x="4173220" y="121920"/>
                    <a:pt x="4227830" y="138430"/>
                    <a:pt x="4273550" y="165100"/>
                  </a:cubicBezTo>
                  <a:cubicBezTo>
                    <a:pt x="4323080" y="193040"/>
                    <a:pt x="4361180" y="238760"/>
                    <a:pt x="4405630" y="276860"/>
                  </a:cubicBezTo>
                  <a:cubicBezTo>
                    <a:pt x="4422140" y="290830"/>
                    <a:pt x="4446270" y="300990"/>
                    <a:pt x="4457700" y="318770"/>
                  </a:cubicBezTo>
                  <a:cubicBezTo>
                    <a:pt x="4490720" y="367030"/>
                    <a:pt x="4519930" y="417830"/>
                    <a:pt x="4549140" y="468630"/>
                  </a:cubicBezTo>
                  <a:cubicBezTo>
                    <a:pt x="4570730" y="505460"/>
                    <a:pt x="4592320" y="543560"/>
                    <a:pt x="4608830" y="581660"/>
                  </a:cubicBezTo>
                  <a:cubicBezTo>
                    <a:pt x="4626610" y="626110"/>
                    <a:pt x="4640580" y="671830"/>
                    <a:pt x="4654550" y="718820"/>
                  </a:cubicBezTo>
                  <a:cubicBezTo>
                    <a:pt x="4676140" y="792480"/>
                    <a:pt x="4701540" y="866140"/>
                    <a:pt x="4715510" y="942340"/>
                  </a:cubicBezTo>
                  <a:cubicBezTo>
                    <a:pt x="4735830" y="1049020"/>
                    <a:pt x="4745990" y="1158240"/>
                    <a:pt x="4761230" y="1266190"/>
                  </a:cubicBezTo>
                  <a:cubicBezTo>
                    <a:pt x="4766310" y="1301750"/>
                    <a:pt x="4772660" y="1337310"/>
                    <a:pt x="4775200" y="1372870"/>
                  </a:cubicBezTo>
                  <a:cubicBezTo>
                    <a:pt x="4782820" y="1474470"/>
                    <a:pt x="4787900" y="1574800"/>
                    <a:pt x="4794250" y="1676400"/>
                  </a:cubicBezTo>
                  <a:cubicBezTo>
                    <a:pt x="4803140" y="1802130"/>
                    <a:pt x="4815840" y="1926590"/>
                    <a:pt x="4822190" y="2052320"/>
                  </a:cubicBezTo>
                  <a:cubicBezTo>
                    <a:pt x="4828540" y="2172970"/>
                    <a:pt x="4833620" y="2294890"/>
                    <a:pt x="4831080" y="2416810"/>
                  </a:cubicBezTo>
                  <a:cubicBezTo>
                    <a:pt x="4827270" y="2620010"/>
                    <a:pt x="4817110" y="2821940"/>
                    <a:pt x="4806950" y="3025140"/>
                  </a:cubicBezTo>
                  <a:cubicBezTo>
                    <a:pt x="4800600" y="3150870"/>
                    <a:pt x="4791710" y="3275330"/>
                    <a:pt x="4779010" y="3399790"/>
                  </a:cubicBezTo>
                  <a:cubicBezTo>
                    <a:pt x="4766310" y="3524250"/>
                    <a:pt x="4747260" y="3647440"/>
                    <a:pt x="4733290" y="3771900"/>
                  </a:cubicBezTo>
                  <a:cubicBezTo>
                    <a:pt x="4723130" y="3858260"/>
                    <a:pt x="4720590" y="3944620"/>
                    <a:pt x="4709160" y="4029710"/>
                  </a:cubicBezTo>
                  <a:cubicBezTo>
                    <a:pt x="4699000" y="4107180"/>
                    <a:pt x="4660900" y="4175760"/>
                    <a:pt x="4610100" y="4232910"/>
                  </a:cubicBezTo>
                  <a:cubicBezTo>
                    <a:pt x="4568190" y="4281170"/>
                    <a:pt x="4535170" y="4335780"/>
                    <a:pt x="4491990" y="4382770"/>
                  </a:cubicBezTo>
                  <a:cubicBezTo>
                    <a:pt x="4453890" y="4424680"/>
                    <a:pt x="4411980" y="4466590"/>
                    <a:pt x="4345940" y="4467860"/>
                  </a:cubicBezTo>
                  <a:cubicBezTo>
                    <a:pt x="4330700" y="4467860"/>
                    <a:pt x="4316730" y="4483100"/>
                    <a:pt x="4301490" y="4490720"/>
                  </a:cubicBezTo>
                  <a:cubicBezTo>
                    <a:pt x="4236720" y="4518660"/>
                    <a:pt x="4169410" y="4542790"/>
                    <a:pt x="4105910" y="4573270"/>
                  </a:cubicBezTo>
                  <a:cubicBezTo>
                    <a:pt x="3989070" y="4629150"/>
                    <a:pt x="3863340" y="4638040"/>
                    <a:pt x="3737610" y="4643120"/>
                  </a:cubicBezTo>
                  <a:cubicBezTo>
                    <a:pt x="3689350" y="4645660"/>
                    <a:pt x="3639820" y="4641850"/>
                    <a:pt x="3591560" y="4645660"/>
                  </a:cubicBezTo>
                  <a:cubicBezTo>
                    <a:pt x="3567430" y="4646930"/>
                    <a:pt x="3544570" y="4658360"/>
                    <a:pt x="3521710" y="4663440"/>
                  </a:cubicBezTo>
                  <a:cubicBezTo>
                    <a:pt x="3511550" y="4665980"/>
                    <a:pt x="3501390" y="4664710"/>
                    <a:pt x="3489960" y="4665980"/>
                  </a:cubicBezTo>
                  <a:cubicBezTo>
                    <a:pt x="3474720" y="4667250"/>
                    <a:pt x="3459480" y="4671060"/>
                    <a:pt x="3444240" y="4669790"/>
                  </a:cubicBezTo>
                  <a:cubicBezTo>
                    <a:pt x="3429000" y="4667250"/>
                    <a:pt x="3418840" y="4662170"/>
                    <a:pt x="3416300" y="4662170"/>
                  </a:cubicBezTo>
                  <a:close/>
                </a:path>
              </a:pathLst>
            </a:custGeom>
            <a:blipFill>
              <a:blip r:embed="rId3"/>
              <a:stretch>
                <a:fillRect l="0" t="-14014" r="0" b="-14014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true" rot="0">
            <a:off x="6585253" y="1273563"/>
            <a:ext cx="2558747" cy="2186565"/>
          </a:xfrm>
          <a:custGeom>
            <a:avLst/>
            <a:gdLst/>
            <a:ahLst/>
            <a:cxnLst/>
            <a:rect r="r" b="b" t="t" l="l"/>
            <a:pathLst>
              <a:path h="2186565" w="2558747">
                <a:moveTo>
                  <a:pt x="0" y="2186566"/>
                </a:moveTo>
                <a:lnTo>
                  <a:pt x="2558747" y="2186566"/>
                </a:lnTo>
                <a:lnTo>
                  <a:pt x="2558747" y="0"/>
                </a:lnTo>
                <a:lnTo>
                  <a:pt x="0" y="0"/>
                </a:lnTo>
                <a:lnTo>
                  <a:pt x="0" y="218656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604545" y="7149264"/>
            <a:ext cx="1450302" cy="1598529"/>
          </a:xfrm>
          <a:custGeom>
            <a:avLst/>
            <a:gdLst/>
            <a:ahLst/>
            <a:cxnLst/>
            <a:rect r="r" b="b" t="t" l="l"/>
            <a:pathLst>
              <a:path h="1598529" w="1450302">
                <a:moveTo>
                  <a:pt x="0" y="0"/>
                </a:moveTo>
                <a:lnTo>
                  <a:pt x="1450302" y="0"/>
                </a:lnTo>
                <a:lnTo>
                  <a:pt x="1450302" y="1598529"/>
                </a:lnTo>
                <a:lnTo>
                  <a:pt x="0" y="15985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0468790" y="2093558"/>
            <a:ext cx="6373646" cy="6099884"/>
            <a:chOff x="0" y="0"/>
            <a:chExt cx="8498195" cy="8133179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8498195" cy="1466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399"/>
                </a:lnSpc>
              </a:pPr>
              <a:r>
                <a:rPr lang="en-US" b="true" sz="6999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Contexto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1647726"/>
              <a:ext cx="7588028" cy="6512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919"/>
                </a:lnSpc>
              </a:pPr>
              <a:r>
                <a:rPr lang="en-US" b="true" sz="2799">
                  <a:solidFill>
                    <a:srgbClr val="259D84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problema detectado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2551530"/>
              <a:ext cx="7588028" cy="55816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18"/>
                </a:lnSpc>
              </a:pPr>
              <a:r>
                <a:rPr lang="en-US" sz="2156">
                  <a:solidFill>
                    <a:srgbClr val="373737"/>
                  </a:solidFill>
                  <a:latin typeface="Poppins"/>
                  <a:ea typeface="Poppins"/>
                  <a:cs typeface="Poppins"/>
                  <a:sym typeface="Poppins"/>
                </a:rPr>
                <a:t>El proyecto PetPrice surge ante la necesidad de los dueños de mascotas de comparar precios de alimentos y accesorios entre distintas tiendas del mercado chileno.</a:t>
              </a:r>
            </a:p>
            <a:p>
              <a:pPr algn="l" marL="0" indent="0" lvl="0">
                <a:lnSpc>
                  <a:spcPts val="3018"/>
                </a:lnSpc>
              </a:pPr>
              <a:r>
                <a:rPr lang="en-US" sz="2156">
                  <a:solidFill>
                    <a:srgbClr val="373737"/>
                  </a:solidFill>
                  <a:latin typeface="Poppins"/>
                  <a:ea typeface="Poppins"/>
                  <a:cs typeface="Poppins"/>
                  <a:sym typeface="Poppins"/>
                </a:rPr>
                <a:t> Actualmente no existe una plataforma centralizada que facilite esta búsqueda de forma rápida, confiable y actualizada.</a:t>
              </a:r>
            </a:p>
            <a:p>
              <a:pPr algn="l" marL="0" indent="0" lvl="0">
                <a:lnSpc>
                  <a:spcPts val="3018"/>
                </a:lnSpc>
              </a:pPr>
              <a:r>
                <a:rPr lang="en-US" sz="2156">
                  <a:solidFill>
                    <a:srgbClr val="373737"/>
                  </a:solidFill>
                  <a:latin typeface="Poppins"/>
                  <a:ea typeface="Poppins"/>
                  <a:cs typeface="Poppins"/>
                  <a:sym typeface="Poppins"/>
                </a:rPr>
                <a:t> La aplicación busca entregar transparencia en los precios y apoyar decisiones de compra más informadas.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8281243">
            <a:off x="16394865" y="8648990"/>
            <a:ext cx="3086100" cy="308610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12138751" y="1371980"/>
            <a:ext cx="3880586" cy="7886320"/>
            <a:chOff x="0" y="0"/>
            <a:chExt cx="5001260" cy="1016381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000993" cy="10163632"/>
            </a:xfrm>
            <a:custGeom>
              <a:avLst/>
              <a:gdLst/>
              <a:ahLst/>
              <a:cxnLst/>
              <a:rect r="r" b="b" t="t" l="l"/>
              <a:pathLst>
                <a:path h="10163632" w="5000993">
                  <a:moveTo>
                    <a:pt x="0" y="0"/>
                  </a:moveTo>
                  <a:lnTo>
                    <a:pt x="5000993" y="0"/>
                  </a:lnTo>
                  <a:lnTo>
                    <a:pt x="5000993" y="10163632"/>
                  </a:lnTo>
                  <a:lnTo>
                    <a:pt x="0" y="10163632"/>
                  </a:lnTo>
                  <a:close/>
                </a:path>
              </a:pathLst>
            </a:custGeom>
            <a:blipFill>
              <a:blip r:embed="rId3"/>
              <a:stretch>
                <a:fillRect l="-45" t="0" r="-45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338760" y="288798"/>
              <a:ext cx="4330776" cy="9398000"/>
            </a:xfrm>
            <a:custGeom>
              <a:avLst/>
              <a:gdLst/>
              <a:ahLst/>
              <a:cxnLst/>
              <a:rect r="r" b="b" t="t" l="l"/>
              <a:pathLst>
                <a:path h="9398000" w="4330776">
                  <a:moveTo>
                    <a:pt x="3894366" y="9398000"/>
                  </a:moveTo>
                  <a:lnTo>
                    <a:pt x="436410" y="9398000"/>
                  </a:lnTo>
                  <a:cubicBezTo>
                    <a:pt x="195389" y="9398000"/>
                    <a:pt x="0" y="9202610"/>
                    <a:pt x="0" y="8961590"/>
                  </a:cubicBezTo>
                  <a:lnTo>
                    <a:pt x="0" y="436410"/>
                  </a:lnTo>
                  <a:cubicBezTo>
                    <a:pt x="0" y="195390"/>
                    <a:pt x="195389" y="0"/>
                    <a:pt x="436410" y="0"/>
                  </a:cubicBezTo>
                  <a:lnTo>
                    <a:pt x="861580" y="0"/>
                  </a:lnTo>
                  <a:cubicBezTo>
                    <a:pt x="902373" y="0"/>
                    <a:pt x="935444" y="33071"/>
                    <a:pt x="935444" y="73863"/>
                  </a:cubicBezTo>
                  <a:lnTo>
                    <a:pt x="935444" y="73863"/>
                  </a:lnTo>
                  <a:cubicBezTo>
                    <a:pt x="935444" y="225019"/>
                    <a:pt x="1057745" y="347688"/>
                    <a:pt x="1208913" y="348120"/>
                  </a:cubicBezTo>
                  <a:lnTo>
                    <a:pt x="3105874" y="353619"/>
                  </a:lnTo>
                  <a:cubicBezTo>
                    <a:pt x="3257651" y="354063"/>
                    <a:pt x="3380930" y="231140"/>
                    <a:pt x="3380930" y="79362"/>
                  </a:cubicBezTo>
                  <a:lnTo>
                    <a:pt x="3380930" y="73863"/>
                  </a:lnTo>
                  <a:cubicBezTo>
                    <a:pt x="3380930" y="33071"/>
                    <a:pt x="3414001" y="0"/>
                    <a:pt x="3454794" y="0"/>
                  </a:cubicBezTo>
                  <a:lnTo>
                    <a:pt x="3894366" y="0"/>
                  </a:lnTo>
                  <a:cubicBezTo>
                    <a:pt x="4135387" y="0"/>
                    <a:pt x="4330776" y="195390"/>
                    <a:pt x="4330776" y="436410"/>
                  </a:cubicBezTo>
                  <a:lnTo>
                    <a:pt x="4330776" y="8961603"/>
                  </a:lnTo>
                  <a:cubicBezTo>
                    <a:pt x="4330776" y="9202610"/>
                    <a:pt x="4135387" y="9398000"/>
                    <a:pt x="3894366" y="9398000"/>
                  </a:cubicBezTo>
                  <a:close/>
                </a:path>
              </a:pathLst>
            </a:custGeom>
            <a:blipFill>
              <a:blip r:embed="rId4"/>
              <a:stretch>
                <a:fillRect l="-9750" t="0" r="-10313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336445" y="1809750"/>
            <a:ext cx="9021255" cy="6267450"/>
            <a:chOff x="0" y="0"/>
            <a:chExt cx="12028340" cy="8356599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0"/>
              <a:ext cx="12028340" cy="14554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919"/>
                </a:lnSpc>
              </a:pPr>
              <a:r>
                <a:rPr lang="en-US" b="true" sz="7199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Solución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2116622"/>
              <a:ext cx="10600801" cy="62399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104"/>
                </a:lnSpc>
              </a:pPr>
              <a:r>
                <a:rPr lang="en-US" sz="2217">
                  <a:solidFill>
                    <a:srgbClr val="373737"/>
                  </a:solidFill>
                  <a:latin typeface="Poppins"/>
                  <a:ea typeface="Poppins"/>
                  <a:cs typeface="Poppins"/>
                  <a:sym typeface="Poppins"/>
                </a:rPr>
                <a:t>PetPrice propone una aplicación móvil que centraliza y actualiza la información de precios de alimentos y accesorios para mascotas provenientes de distintas tiendas del mercado chileno.</a:t>
              </a:r>
            </a:p>
            <a:p>
              <a:pPr algn="just" marL="0" indent="0" lvl="0">
                <a:lnSpc>
                  <a:spcPts val="3104"/>
                </a:lnSpc>
              </a:pPr>
              <a:r>
                <a:rPr lang="en-US" sz="2217">
                  <a:solidFill>
                    <a:srgbClr val="373737"/>
                  </a:solidFill>
                  <a:latin typeface="Poppins"/>
                  <a:ea typeface="Poppins"/>
                  <a:cs typeface="Poppins"/>
                  <a:sym typeface="Poppins"/>
                </a:rPr>
                <a:t> El sistema integra un módulo de web scraping que recopila automáticamente los valores publicados en las principales plataformas comerciales, permitiendo generar un comparador en tiempo real.</a:t>
              </a:r>
            </a:p>
            <a:p>
              <a:pPr algn="just" marL="0" indent="0" lvl="0">
                <a:lnSpc>
                  <a:spcPts val="3104"/>
                </a:lnSpc>
              </a:pPr>
              <a:r>
                <a:rPr lang="en-US" sz="2217">
                  <a:solidFill>
                    <a:srgbClr val="373737"/>
                  </a:solidFill>
                  <a:latin typeface="Poppins"/>
                  <a:ea typeface="Poppins"/>
                  <a:cs typeface="Poppins"/>
                  <a:sym typeface="Poppins"/>
                </a:rPr>
                <a:t> Además, ofrece funciones como historial de precios, favoritos y alertas personalizadas, con el objetivo de facilitar decisiones de compra informadas y fomentar la transparencia en el mercado pet nacional.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9707411" y="5251764"/>
            <a:ext cx="383903" cy="383903"/>
          </a:xfrm>
          <a:custGeom>
            <a:avLst/>
            <a:gdLst/>
            <a:ahLst/>
            <a:cxnLst/>
            <a:rect r="r" b="b" t="t" l="l"/>
            <a:pathLst>
              <a:path h="383903" w="383903">
                <a:moveTo>
                  <a:pt x="0" y="0"/>
                </a:moveTo>
                <a:lnTo>
                  <a:pt x="383903" y="0"/>
                </a:lnTo>
                <a:lnTo>
                  <a:pt x="383903" y="383903"/>
                </a:lnTo>
                <a:lnTo>
                  <a:pt x="0" y="3839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707411" y="5988092"/>
            <a:ext cx="383903" cy="383903"/>
          </a:xfrm>
          <a:custGeom>
            <a:avLst/>
            <a:gdLst/>
            <a:ahLst/>
            <a:cxnLst/>
            <a:rect r="r" b="b" t="t" l="l"/>
            <a:pathLst>
              <a:path h="383903" w="383903">
                <a:moveTo>
                  <a:pt x="0" y="0"/>
                </a:moveTo>
                <a:lnTo>
                  <a:pt x="383903" y="0"/>
                </a:lnTo>
                <a:lnTo>
                  <a:pt x="383903" y="383903"/>
                </a:lnTo>
                <a:lnTo>
                  <a:pt x="0" y="3839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707411" y="6825606"/>
            <a:ext cx="383903" cy="383903"/>
          </a:xfrm>
          <a:custGeom>
            <a:avLst/>
            <a:gdLst/>
            <a:ahLst/>
            <a:cxnLst/>
            <a:rect r="r" b="b" t="t" l="l"/>
            <a:pathLst>
              <a:path h="383903" w="383903">
                <a:moveTo>
                  <a:pt x="0" y="0"/>
                </a:moveTo>
                <a:lnTo>
                  <a:pt x="383903" y="0"/>
                </a:lnTo>
                <a:lnTo>
                  <a:pt x="383903" y="383903"/>
                </a:lnTo>
                <a:lnTo>
                  <a:pt x="0" y="38390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707411" y="7662696"/>
            <a:ext cx="383903" cy="383903"/>
          </a:xfrm>
          <a:custGeom>
            <a:avLst/>
            <a:gdLst/>
            <a:ahLst/>
            <a:cxnLst/>
            <a:rect r="r" b="b" t="t" l="l"/>
            <a:pathLst>
              <a:path h="383903" w="383903">
                <a:moveTo>
                  <a:pt x="0" y="0"/>
                </a:moveTo>
                <a:lnTo>
                  <a:pt x="383903" y="0"/>
                </a:lnTo>
                <a:lnTo>
                  <a:pt x="383903" y="383903"/>
                </a:lnTo>
                <a:lnTo>
                  <a:pt x="0" y="38390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028700" y="2542026"/>
            <a:ext cx="6518810" cy="1827557"/>
            <a:chOff x="0" y="0"/>
            <a:chExt cx="8691747" cy="2436743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1667335"/>
              <a:ext cx="8691747" cy="7694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550"/>
                </a:lnSpc>
              </a:pPr>
              <a:r>
                <a:rPr lang="en-US" b="true" sz="3500" spc="105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proyecto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-142875"/>
              <a:ext cx="8691747" cy="1689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9945"/>
                </a:lnSpc>
              </a:pPr>
              <a:r>
                <a:rPr lang="en-US" b="true" sz="7650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Objetivos del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558540" y="5213664"/>
            <a:ext cx="6909498" cy="928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36"/>
              </a:lnSpc>
              <a:spcBef>
                <a:spcPct val="0"/>
              </a:spcBef>
            </a:pPr>
            <a:r>
              <a:rPr lang="en-US" b="true" sz="1874" spc="5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Desarrollar una aplicación móvil que permita comparar precios de productos para mascotas entre diferentes tiendas online.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486570" y="5264878"/>
            <a:ext cx="6042226" cy="319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30"/>
              </a:lnSpc>
              <a:spcBef>
                <a:spcPct val="0"/>
              </a:spcBef>
            </a:pPr>
            <a:r>
              <a:rPr lang="en-US" b="true" sz="1869" spc="5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Implementar un sistema de scraping modular.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86570" y="6001206"/>
            <a:ext cx="6042226" cy="319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30"/>
              </a:lnSpc>
              <a:spcBef>
                <a:spcPct val="0"/>
              </a:spcBef>
            </a:pPr>
            <a:r>
              <a:rPr lang="en-US" b="true" sz="1869" spc="5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Diseñar interfaz amigable con Ionic.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486570" y="6686320"/>
            <a:ext cx="6042226" cy="623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30"/>
              </a:lnSpc>
              <a:spcBef>
                <a:spcPct val="0"/>
              </a:spcBef>
            </a:pPr>
            <a:r>
              <a:rPr lang="en-US" b="true" sz="1869" spc="5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Registrar historial de precios y mostrar gráficos.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486570" y="7675810"/>
            <a:ext cx="6042226" cy="319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30"/>
              </a:lnSpc>
              <a:spcBef>
                <a:spcPct val="0"/>
              </a:spcBef>
            </a:pPr>
            <a:r>
              <a:rPr lang="en-US" b="true" sz="1869" spc="56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Permitir gestión de favoritos por usuario.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28700" y="4588189"/>
            <a:ext cx="5521723" cy="391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</a:pPr>
            <a:r>
              <a:rPr lang="en-US" b="true" sz="2199" spc="6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General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44236" y="4588189"/>
            <a:ext cx="7084560" cy="391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</a:pPr>
            <a:r>
              <a:rPr lang="en-US" b="true" sz="2199" spc="65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Especifico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1028700" y="5223189"/>
            <a:ext cx="383903" cy="383903"/>
          </a:xfrm>
          <a:custGeom>
            <a:avLst/>
            <a:gdLst/>
            <a:ahLst/>
            <a:cxnLst/>
            <a:rect r="r" b="b" t="t" l="l"/>
            <a:pathLst>
              <a:path h="383903" w="383903">
                <a:moveTo>
                  <a:pt x="0" y="0"/>
                </a:moveTo>
                <a:lnTo>
                  <a:pt x="383903" y="0"/>
                </a:lnTo>
                <a:lnTo>
                  <a:pt x="383903" y="383903"/>
                </a:lnTo>
                <a:lnTo>
                  <a:pt x="0" y="3839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277755" y="2360582"/>
            <a:ext cx="5981545" cy="1827557"/>
            <a:chOff x="0" y="0"/>
            <a:chExt cx="7975394" cy="243674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67335"/>
              <a:ext cx="7975394" cy="7694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4550"/>
                </a:lnSpc>
              </a:pPr>
              <a:r>
                <a:rPr lang="en-US" b="true" sz="3500" spc="105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Limitaciones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42875"/>
              <a:ext cx="7975394" cy="1689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9945"/>
                </a:lnSpc>
              </a:pPr>
              <a:r>
                <a:rPr lang="en-US" b="true" sz="7650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Alcances y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301359" y="4418917"/>
            <a:ext cx="3421097" cy="301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2310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¿Que hace el sistema?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144000" y="4418917"/>
            <a:ext cx="4084778" cy="301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2310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¿Que NO hace el sistema?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143340" y="4838520"/>
            <a:ext cx="4375537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Comparar precios de alimentos y productos para mascotas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143340" y="5593027"/>
            <a:ext cx="4375537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Mostrar historial y variaciones de precios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143340" y="6347534"/>
            <a:ext cx="4375537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Permitir búsqueda, favoritos y vista de detalles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143340" y="7102041"/>
            <a:ext cx="4375537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Módulo de administración básico (usuarios y datos)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88244" y="4838520"/>
            <a:ext cx="3996291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Cobertura limitada de tiendas y productos.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188244" y="5593027"/>
            <a:ext cx="3996291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Actualización de precios no en tiempo real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188244" y="6347534"/>
            <a:ext cx="3996291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Depende del funcionamiento de las tiendas externas (scraping)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188244" y="7102041"/>
            <a:ext cx="3996291" cy="640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Compatible solo con dispositivos Android en esta versión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8281243">
            <a:off x="16394865" y="8648990"/>
            <a:ext cx="3086100" cy="308610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3000298" y="1149812"/>
            <a:ext cx="13343391" cy="9350744"/>
          </a:xfrm>
          <a:custGeom>
            <a:avLst/>
            <a:gdLst/>
            <a:ahLst/>
            <a:cxnLst/>
            <a:rect r="r" b="b" t="t" l="l"/>
            <a:pathLst>
              <a:path h="9350744" w="13343391">
                <a:moveTo>
                  <a:pt x="0" y="0"/>
                </a:moveTo>
                <a:lnTo>
                  <a:pt x="13343391" y="0"/>
                </a:lnTo>
                <a:lnTo>
                  <a:pt x="13343391" y="9350745"/>
                </a:lnTo>
                <a:lnTo>
                  <a:pt x="0" y="93507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322559" y="1525077"/>
            <a:ext cx="8084062" cy="57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96"/>
              </a:lnSpc>
            </a:pPr>
            <a:r>
              <a:rPr lang="en-US" b="true" sz="3381" spc="10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del Software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22559" y="318464"/>
            <a:ext cx="8084062" cy="127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08"/>
              </a:lnSpc>
            </a:pPr>
            <a:r>
              <a:rPr lang="en-US" b="true" sz="7391">
                <a:solidFill>
                  <a:srgbClr val="707070"/>
                </a:solidFill>
                <a:latin typeface="Poppins Bold"/>
                <a:ea typeface="Poppins Bold"/>
                <a:cs typeface="Poppins Bold"/>
                <a:sym typeface="Poppins Bold"/>
              </a:rPr>
              <a:t>Arquitectura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8106117" y="2510446"/>
            <a:ext cx="2169451" cy="2169451"/>
          </a:xfrm>
          <a:custGeom>
            <a:avLst/>
            <a:gdLst/>
            <a:ahLst/>
            <a:cxnLst/>
            <a:rect r="r" b="b" t="t" l="l"/>
            <a:pathLst>
              <a:path h="2169451" w="2169451">
                <a:moveTo>
                  <a:pt x="0" y="0"/>
                </a:moveTo>
                <a:lnTo>
                  <a:pt x="2169451" y="0"/>
                </a:lnTo>
                <a:lnTo>
                  <a:pt x="2169451" y="2169451"/>
                </a:lnTo>
                <a:lnTo>
                  <a:pt x="0" y="21694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115480" y="4549472"/>
            <a:ext cx="3629082" cy="2041358"/>
          </a:xfrm>
          <a:custGeom>
            <a:avLst/>
            <a:gdLst/>
            <a:ahLst/>
            <a:cxnLst/>
            <a:rect r="r" b="b" t="t" l="l"/>
            <a:pathLst>
              <a:path h="2041358" w="3629082">
                <a:moveTo>
                  <a:pt x="0" y="0"/>
                </a:moveTo>
                <a:lnTo>
                  <a:pt x="3629082" y="0"/>
                </a:lnTo>
                <a:lnTo>
                  <a:pt x="3629082" y="2041359"/>
                </a:lnTo>
                <a:lnTo>
                  <a:pt x="0" y="20413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023461" y="2430497"/>
            <a:ext cx="2249400" cy="2249400"/>
          </a:xfrm>
          <a:custGeom>
            <a:avLst/>
            <a:gdLst/>
            <a:ahLst/>
            <a:cxnLst/>
            <a:rect r="r" b="b" t="t" l="l"/>
            <a:pathLst>
              <a:path h="2249400" w="2249400">
                <a:moveTo>
                  <a:pt x="0" y="0"/>
                </a:moveTo>
                <a:lnTo>
                  <a:pt x="2249400" y="0"/>
                </a:lnTo>
                <a:lnTo>
                  <a:pt x="2249400" y="2249400"/>
                </a:lnTo>
                <a:lnTo>
                  <a:pt x="0" y="2249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636838" y="2093530"/>
            <a:ext cx="2586367" cy="2586367"/>
          </a:xfrm>
          <a:custGeom>
            <a:avLst/>
            <a:gdLst/>
            <a:ahLst/>
            <a:cxnLst/>
            <a:rect r="r" b="b" t="t" l="l"/>
            <a:pathLst>
              <a:path h="2586367" w="2586367">
                <a:moveTo>
                  <a:pt x="0" y="0"/>
                </a:moveTo>
                <a:lnTo>
                  <a:pt x="2586367" y="0"/>
                </a:lnTo>
                <a:lnTo>
                  <a:pt x="2586367" y="2586367"/>
                </a:lnTo>
                <a:lnTo>
                  <a:pt x="0" y="25863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345953" y="4938075"/>
            <a:ext cx="1859230" cy="1859230"/>
          </a:xfrm>
          <a:custGeom>
            <a:avLst/>
            <a:gdLst/>
            <a:ahLst/>
            <a:cxnLst/>
            <a:rect r="r" b="b" t="t" l="l"/>
            <a:pathLst>
              <a:path h="1859230" w="1859230">
                <a:moveTo>
                  <a:pt x="0" y="0"/>
                </a:moveTo>
                <a:lnTo>
                  <a:pt x="1859230" y="0"/>
                </a:lnTo>
                <a:lnTo>
                  <a:pt x="1859230" y="1859230"/>
                </a:lnTo>
                <a:lnTo>
                  <a:pt x="0" y="18592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7036749" y="6275842"/>
            <a:ext cx="2107251" cy="2107251"/>
          </a:xfrm>
          <a:custGeom>
            <a:avLst/>
            <a:gdLst/>
            <a:ahLst/>
            <a:cxnLst/>
            <a:rect r="r" b="b" t="t" l="l"/>
            <a:pathLst>
              <a:path h="2107251" w="2107251">
                <a:moveTo>
                  <a:pt x="0" y="0"/>
                </a:moveTo>
                <a:lnTo>
                  <a:pt x="2107251" y="0"/>
                </a:lnTo>
                <a:lnTo>
                  <a:pt x="2107251" y="2107251"/>
                </a:lnTo>
                <a:lnTo>
                  <a:pt x="0" y="210725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2023461" y="6892165"/>
            <a:ext cx="3260837" cy="1267650"/>
          </a:xfrm>
          <a:custGeom>
            <a:avLst/>
            <a:gdLst/>
            <a:ahLst/>
            <a:cxnLst/>
            <a:rect r="r" b="b" t="t" l="l"/>
            <a:pathLst>
              <a:path h="1267650" w="3260837">
                <a:moveTo>
                  <a:pt x="0" y="0"/>
                </a:moveTo>
                <a:lnTo>
                  <a:pt x="3260837" y="0"/>
                </a:lnTo>
                <a:lnTo>
                  <a:pt x="3260837" y="1267650"/>
                </a:lnTo>
                <a:lnTo>
                  <a:pt x="0" y="126765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0740490" y="1959476"/>
            <a:ext cx="6518810" cy="1827557"/>
            <a:chOff x="0" y="0"/>
            <a:chExt cx="8691747" cy="2436743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1667335"/>
              <a:ext cx="8691747" cy="7694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4550"/>
                </a:lnSpc>
              </a:pPr>
              <a:r>
                <a:rPr lang="en-US" b="true" sz="3500" spc="105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utilizadas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-142875"/>
              <a:ext cx="8691747" cy="1689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9945"/>
                </a:lnSpc>
              </a:pPr>
              <a:r>
                <a:rPr lang="en-US" b="true" sz="7650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Tecnologias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8281243">
            <a:off x="16394865" y="8648990"/>
            <a:ext cx="3086100" cy="308610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2693936" y="4027291"/>
            <a:ext cx="735006" cy="995698"/>
          </a:xfrm>
          <a:custGeom>
            <a:avLst/>
            <a:gdLst/>
            <a:ahLst/>
            <a:cxnLst/>
            <a:rect r="r" b="b" t="t" l="l"/>
            <a:pathLst>
              <a:path h="995698" w="735006">
                <a:moveTo>
                  <a:pt x="0" y="0"/>
                </a:moveTo>
                <a:lnTo>
                  <a:pt x="735006" y="0"/>
                </a:lnTo>
                <a:lnTo>
                  <a:pt x="735006" y="995697"/>
                </a:lnTo>
                <a:lnTo>
                  <a:pt x="0" y="9956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5934149" y="6450366"/>
            <a:ext cx="734295" cy="785725"/>
          </a:xfrm>
          <a:custGeom>
            <a:avLst/>
            <a:gdLst/>
            <a:ahLst/>
            <a:cxnLst/>
            <a:rect r="r" b="b" t="t" l="l"/>
            <a:pathLst>
              <a:path h="785725" w="734295">
                <a:moveTo>
                  <a:pt x="0" y="0"/>
                </a:moveTo>
                <a:lnTo>
                  <a:pt x="734296" y="0"/>
                </a:lnTo>
                <a:lnTo>
                  <a:pt x="734296" y="785725"/>
                </a:lnTo>
                <a:lnTo>
                  <a:pt x="0" y="78572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1" id="11"/>
          <p:cNvSpPr/>
          <p:nvPr/>
        </p:nvSpPr>
        <p:spPr>
          <a:xfrm flipH="false" flipV="false" rot="0">
            <a:off x="2693936" y="6450366"/>
            <a:ext cx="716656" cy="828069"/>
          </a:xfrm>
          <a:custGeom>
            <a:avLst/>
            <a:gdLst/>
            <a:ahLst/>
            <a:cxnLst/>
            <a:rect r="r" b="b" t="t" l="l"/>
            <a:pathLst>
              <a:path h="828069" w="716656">
                <a:moveTo>
                  <a:pt x="0" y="0"/>
                </a:moveTo>
                <a:lnTo>
                  <a:pt x="716656" y="0"/>
                </a:lnTo>
                <a:lnTo>
                  <a:pt x="716656" y="828069"/>
                </a:lnTo>
                <a:lnTo>
                  <a:pt x="0" y="82806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2" id="12"/>
          <p:cNvSpPr/>
          <p:nvPr/>
        </p:nvSpPr>
        <p:spPr>
          <a:xfrm flipH="false" flipV="false" rot="0">
            <a:off x="5915622" y="4140911"/>
            <a:ext cx="771350" cy="768458"/>
          </a:xfrm>
          <a:custGeom>
            <a:avLst/>
            <a:gdLst/>
            <a:ahLst/>
            <a:cxnLst/>
            <a:rect r="r" b="b" t="t" l="l"/>
            <a:pathLst>
              <a:path h="768458" w="771350">
                <a:moveTo>
                  <a:pt x="0" y="0"/>
                </a:moveTo>
                <a:lnTo>
                  <a:pt x="771350" y="0"/>
                </a:lnTo>
                <a:lnTo>
                  <a:pt x="771350" y="768457"/>
                </a:lnTo>
                <a:lnTo>
                  <a:pt x="0" y="76845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11784128" y="2728068"/>
            <a:ext cx="5077445" cy="10046597"/>
            <a:chOff x="0" y="0"/>
            <a:chExt cx="2620010" cy="51841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3340" y="25400"/>
              <a:ext cx="2513330" cy="5132070"/>
            </a:xfrm>
            <a:custGeom>
              <a:avLst/>
              <a:gdLst/>
              <a:ahLst/>
              <a:cxnLst/>
              <a:rect r="r" b="b" t="t" l="l"/>
              <a:pathLst>
                <a:path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85420" y="156210"/>
              <a:ext cx="2251710" cy="4876800"/>
            </a:xfrm>
            <a:custGeom>
              <a:avLst/>
              <a:gdLst/>
              <a:ahLst/>
              <a:cxnLst/>
              <a:rect r="r" b="b" t="t" l="l"/>
              <a:pathLst>
                <a:path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11"/>
              <a:stretch>
                <a:fillRect l="-8" t="0" r="-8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121410" y="198120"/>
              <a:ext cx="347980" cy="43180"/>
            </a:xfrm>
            <a:custGeom>
              <a:avLst/>
              <a:gdLst/>
              <a:ahLst/>
              <a:cxnLst/>
              <a:rect r="r" b="b" t="t" l="l"/>
              <a:pathLst>
                <a:path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578312" y="187909"/>
              <a:ext cx="66636" cy="63602"/>
            </a:xfrm>
            <a:custGeom>
              <a:avLst/>
              <a:gdLst/>
              <a:ahLst/>
              <a:cxnLst/>
              <a:rect r="r" b="b" t="t" l="l"/>
              <a:pathLst>
                <a:path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606060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0" y="685800"/>
              <a:ext cx="27940" cy="213360"/>
            </a:xfrm>
            <a:custGeom>
              <a:avLst/>
              <a:gdLst/>
              <a:ahLst/>
              <a:cxnLst/>
              <a:rect r="r" b="b" t="t" l="l"/>
              <a:pathLst>
                <a:path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0" y="1057910"/>
              <a:ext cx="27940" cy="384810"/>
            </a:xfrm>
            <a:custGeom>
              <a:avLst/>
              <a:gdLst/>
              <a:ahLst/>
              <a:cxnLst/>
              <a:rect r="r" b="b" t="t" l="l"/>
              <a:pathLst>
                <a:path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0" y="1526540"/>
              <a:ext cx="27940" cy="386080"/>
            </a:xfrm>
            <a:custGeom>
              <a:avLst/>
              <a:gdLst/>
              <a:ahLst/>
              <a:cxnLst/>
              <a:rect r="r" b="b" t="t" l="l"/>
              <a:pathLst>
                <a:path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592070" y="1184910"/>
              <a:ext cx="27940" cy="618490"/>
            </a:xfrm>
            <a:custGeom>
              <a:avLst/>
              <a:gdLst/>
              <a:ahLst/>
              <a:cxnLst/>
              <a:rect r="r" b="b" t="t" l="l"/>
              <a:pathLst>
                <a:path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7940" y="0"/>
              <a:ext cx="2564130" cy="5182870"/>
            </a:xfrm>
            <a:custGeom>
              <a:avLst/>
              <a:gdLst/>
              <a:ahLst/>
              <a:cxnLst/>
              <a:rect r="r" b="b" t="t" l="l"/>
              <a:pathLst>
                <a:path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</p:sp>
      </p:grpSp>
      <p:grpSp>
        <p:nvGrpSpPr>
          <p:cNvPr name="Group 23" id="23"/>
          <p:cNvGrpSpPr>
            <a:grpSpLocks noChangeAspect="true"/>
          </p:cNvGrpSpPr>
          <p:nvPr/>
        </p:nvGrpSpPr>
        <p:grpSpPr>
          <a:xfrm rot="0">
            <a:off x="9255637" y="5624826"/>
            <a:ext cx="4245624" cy="8400697"/>
            <a:chOff x="0" y="0"/>
            <a:chExt cx="2620010" cy="51841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53340" y="25400"/>
              <a:ext cx="2513330" cy="5132070"/>
            </a:xfrm>
            <a:custGeom>
              <a:avLst/>
              <a:gdLst/>
              <a:ahLst/>
              <a:cxnLst/>
              <a:rect r="r" b="b" t="t" l="l"/>
              <a:pathLst>
                <a:path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185420" y="156210"/>
              <a:ext cx="2251710" cy="4876800"/>
            </a:xfrm>
            <a:custGeom>
              <a:avLst/>
              <a:gdLst/>
              <a:ahLst/>
              <a:cxnLst/>
              <a:rect r="r" b="b" t="t" l="l"/>
              <a:pathLst>
                <a:path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12"/>
              <a:stretch>
                <a:fillRect l="-8" t="0" r="-8" b="0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1121410" y="198120"/>
              <a:ext cx="347980" cy="43180"/>
            </a:xfrm>
            <a:custGeom>
              <a:avLst/>
              <a:gdLst/>
              <a:ahLst/>
              <a:cxnLst/>
              <a:rect r="r" b="b" t="t" l="l"/>
              <a:pathLst>
                <a:path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1578312" y="187909"/>
              <a:ext cx="66636" cy="63602"/>
            </a:xfrm>
            <a:custGeom>
              <a:avLst/>
              <a:gdLst/>
              <a:ahLst/>
              <a:cxnLst/>
              <a:rect r="r" b="b" t="t" l="l"/>
              <a:pathLst>
                <a:path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606060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0" y="685800"/>
              <a:ext cx="27940" cy="213360"/>
            </a:xfrm>
            <a:custGeom>
              <a:avLst/>
              <a:gdLst/>
              <a:ahLst/>
              <a:cxnLst/>
              <a:rect r="r" b="b" t="t" l="l"/>
              <a:pathLst>
                <a:path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0" y="1057910"/>
              <a:ext cx="27940" cy="384810"/>
            </a:xfrm>
            <a:custGeom>
              <a:avLst/>
              <a:gdLst/>
              <a:ahLst/>
              <a:cxnLst/>
              <a:rect r="r" b="b" t="t" l="l"/>
              <a:pathLst>
                <a:path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0" y="1526540"/>
              <a:ext cx="27940" cy="386080"/>
            </a:xfrm>
            <a:custGeom>
              <a:avLst/>
              <a:gdLst/>
              <a:ahLst/>
              <a:cxnLst/>
              <a:rect r="r" b="b" t="t" l="l"/>
              <a:pathLst>
                <a:path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2592070" y="1184910"/>
              <a:ext cx="27940" cy="618490"/>
            </a:xfrm>
            <a:custGeom>
              <a:avLst/>
              <a:gdLst/>
              <a:ahLst/>
              <a:cxnLst/>
              <a:rect r="r" b="b" t="t" l="l"/>
              <a:pathLst>
                <a:path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27940" y="0"/>
              <a:ext cx="2564130" cy="5182870"/>
            </a:xfrm>
            <a:custGeom>
              <a:avLst/>
              <a:gdLst/>
              <a:ahLst/>
              <a:cxnLst/>
              <a:rect r="r" b="b" t="t" l="l"/>
              <a:pathLst>
                <a:path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</p:sp>
      </p:grpSp>
      <p:sp>
        <p:nvSpPr>
          <p:cNvPr name="TextBox 33" id="33"/>
          <p:cNvSpPr txBox="true"/>
          <p:nvPr/>
        </p:nvSpPr>
        <p:spPr>
          <a:xfrm rot="0">
            <a:off x="1700457" y="5168058"/>
            <a:ext cx="2721964" cy="375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5"/>
              </a:lnSpc>
            </a:pP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Comparar</a:t>
            </a: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 precios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4940315" y="5168058"/>
            <a:ext cx="2721964" cy="375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5"/>
              </a:lnSpc>
            </a:pP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Buscar productos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700457" y="7457087"/>
            <a:ext cx="2721964" cy="762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5"/>
              </a:lnSpc>
            </a:pP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R</a:t>
            </a: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evisar el historial de variaciones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940315" y="7457087"/>
            <a:ext cx="2721964" cy="3758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5"/>
              </a:lnSpc>
            </a:pP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Gua</a:t>
            </a:r>
            <a:r>
              <a:rPr lang="en-US" b="true" sz="2342">
                <a:solidFill>
                  <a:srgbClr val="000000"/>
                </a:solidFill>
                <a:latin typeface="HK Grotesk Medium"/>
                <a:ea typeface="HK Grotesk Medium"/>
                <a:cs typeface="HK Grotesk Medium"/>
                <a:sym typeface="HK Grotesk Medium"/>
              </a:rPr>
              <a:t>rdar favoritos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28700" y="2661393"/>
            <a:ext cx="8084062" cy="575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96"/>
              </a:lnSpc>
            </a:pPr>
            <a:r>
              <a:rPr lang="en-US" b="true" sz="3381" spc="10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del Sistema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28700" y="1319167"/>
            <a:ext cx="8084062" cy="127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08"/>
              </a:lnSpc>
            </a:pPr>
            <a:r>
              <a:rPr lang="en-US" b="true" sz="7391">
                <a:solidFill>
                  <a:srgbClr val="707070"/>
                </a:solidFill>
                <a:latin typeface="Poppins Bold"/>
                <a:ea typeface="Poppins Bold"/>
                <a:cs typeface="Poppins Bold"/>
                <a:sym typeface="Poppins Bold"/>
              </a:rPr>
              <a:t>Funcionamiento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8281243">
            <a:off x="16394865" y="8648990"/>
            <a:ext cx="3086100" cy="3086100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>
            <a:grpSpLocks noChangeAspect="true"/>
          </p:cNvGrpSpPr>
          <p:nvPr/>
        </p:nvGrpSpPr>
        <p:grpSpPr>
          <a:xfrm rot="0">
            <a:off x="6875107" y="3812910"/>
            <a:ext cx="4537786" cy="8978789"/>
            <a:chOff x="0" y="0"/>
            <a:chExt cx="2620010" cy="51841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53340" y="25400"/>
              <a:ext cx="2513330" cy="5132070"/>
            </a:xfrm>
            <a:custGeom>
              <a:avLst/>
              <a:gdLst/>
              <a:ahLst/>
              <a:cxnLst/>
              <a:rect r="r" b="b" t="t" l="l"/>
              <a:pathLst>
                <a:path h="5132070" w="251333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85420" y="156210"/>
              <a:ext cx="2251710" cy="4876800"/>
            </a:xfrm>
            <a:custGeom>
              <a:avLst/>
              <a:gdLst/>
              <a:ahLst/>
              <a:cxnLst/>
              <a:rect r="r" b="b" t="t" l="l"/>
              <a:pathLst>
                <a:path h="4876800" w="225171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64895" t="0" r="-121653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121410" y="198120"/>
              <a:ext cx="347980" cy="43180"/>
            </a:xfrm>
            <a:custGeom>
              <a:avLst/>
              <a:gdLst/>
              <a:ahLst/>
              <a:cxnLst/>
              <a:rect r="r" b="b" t="t" l="l"/>
              <a:pathLst>
                <a:path h="43180" w="3479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578312" y="187909"/>
              <a:ext cx="66636" cy="63602"/>
            </a:xfrm>
            <a:custGeom>
              <a:avLst/>
              <a:gdLst/>
              <a:ahLst/>
              <a:cxnLst/>
              <a:rect r="r" b="b" t="t" l="l"/>
              <a:pathLst>
                <a:path h="63602" w="66636">
                  <a:moveTo>
                    <a:pt x="33318" y="51"/>
                  </a:moveTo>
                  <a:cubicBezTo>
                    <a:pt x="21941" y="0"/>
                    <a:pt x="11406" y="6040"/>
                    <a:pt x="5703" y="15885"/>
                  </a:cubicBezTo>
                  <a:cubicBezTo>
                    <a:pt x="0" y="25729"/>
                    <a:pt x="0" y="37873"/>
                    <a:pt x="5703" y="47717"/>
                  </a:cubicBezTo>
                  <a:cubicBezTo>
                    <a:pt x="11406" y="57562"/>
                    <a:pt x="21941" y="63602"/>
                    <a:pt x="33318" y="63551"/>
                  </a:cubicBezTo>
                  <a:cubicBezTo>
                    <a:pt x="44695" y="63602"/>
                    <a:pt x="55230" y="57562"/>
                    <a:pt x="60933" y="47717"/>
                  </a:cubicBezTo>
                  <a:cubicBezTo>
                    <a:pt x="66636" y="37873"/>
                    <a:pt x="66636" y="25729"/>
                    <a:pt x="60933" y="15885"/>
                  </a:cubicBezTo>
                  <a:cubicBezTo>
                    <a:pt x="55230" y="6040"/>
                    <a:pt x="44695" y="0"/>
                    <a:pt x="33318" y="51"/>
                  </a:cubicBezTo>
                  <a:close/>
                </a:path>
              </a:pathLst>
            </a:custGeom>
            <a:solidFill>
              <a:srgbClr val="606060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0" y="685800"/>
              <a:ext cx="27940" cy="213360"/>
            </a:xfrm>
            <a:custGeom>
              <a:avLst/>
              <a:gdLst/>
              <a:ahLst/>
              <a:cxnLst/>
              <a:rect r="r" b="b" t="t" l="l"/>
              <a:pathLst>
                <a:path h="213360" w="2794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1057910"/>
              <a:ext cx="27940" cy="384810"/>
            </a:xfrm>
            <a:custGeom>
              <a:avLst/>
              <a:gdLst/>
              <a:ahLst/>
              <a:cxnLst/>
              <a:rect r="r" b="b" t="t" l="l"/>
              <a:pathLst>
                <a:path h="384810" w="2794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1526540"/>
              <a:ext cx="27940" cy="386080"/>
            </a:xfrm>
            <a:custGeom>
              <a:avLst/>
              <a:gdLst/>
              <a:ahLst/>
              <a:cxnLst/>
              <a:rect r="r" b="b" t="t" l="l"/>
              <a:pathLst>
                <a:path h="386080" w="2794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2592070" y="1184910"/>
              <a:ext cx="27940" cy="618490"/>
            </a:xfrm>
            <a:custGeom>
              <a:avLst/>
              <a:gdLst/>
              <a:ahLst/>
              <a:cxnLst/>
              <a:rect r="r" b="b" t="t" l="l"/>
              <a:pathLst>
                <a:path h="618490" w="2794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27940" y="0"/>
              <a:ext cx="2564130" cy="5182870"/>
            </a:xfrm>
            <a:custGeom>
              <a:avLst/>
              <a:gdLst/>
              <a:ahLst/>
              <a:cxnLst/>
              <a:rect r="r" b="b" t="t" l="l"/>
              <a:pathLst>
                <a:path h="5182870" w="256413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2174944" y="3502406"/>
            <a:ext cx="2836426" cy="567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2310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Sin compra directa</a:t>
            </a:r>
          </a:p>
        </p:txBody>
      </p:sp>
      <p:sp>
        <p:nvSpPr>
          <p:cNvPr name="AutoShape 20" id="20"/>
          <p:cNvSpPr/>
          <p:nvPr/>
        </p:nvSpPr>
        <p:spPr>
          <a:xfrm>
            <a:off x="12432068" y="4492418"/>
            <a:ext cx="979984" cy="0"/>
          </a:xfrm>
          <a:prstGeom prst="line">
            <a:avLst/>
          </a:prstGeom>
          <a:ln cap="flat" w="38100">
            <a:solidFill>
              <a:srgbClr val="37373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2174944" y="4079864"/>
            <a:ext cx="979984" cy="0"/>
          </a:xfrm>
          <a:prstGeom prst="line">
            <a:avLst/>
          </a:prstGeom>
          <a:ln cap="flat" w="38100">
            <a:solidFill>
              <a:srgbClr val="37373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22" id="22"/>
          <p:cNvSpPr txBox="true"/>
          <p:nvPr/>
        </p:nvSpPr>
        <p:spPr>
          <a:xfrm rot="0">
            <a:off x="2174944" y="6487429"/>
            <a:ext cx="3353299" cy="567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2310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Comparación limitada</a:t>
            </a:r>
          </a:p>
        </p:txBody>
      </p:sp>
      <p:sp>
        <p:nvSpPr>
          <p:cNvPr name="AutoShape 23" id="23"/>
          <p:cNvSpPr/>
          <p:nvPr/>
        </p:nvSpPr>
        <p:spPr>
          <a:xfrm>
            <a:off x="2174944" y="7064887"/>
            <a:ext cx="979984" cy="0"/>
          </a:xfrm>
          <a:prstGeom prst="line">
            <a:avLst/>
          </a:prstGeom>
          <a:ln cap="flat" w="38100">
            <a:solidFill>
              <a:srgbClr val="37373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4" id="24"/>
          <p:cNvSpPr/>
          <p:nvPr/>
        </p:nvSpPr>
        <p:spPr>
          <a:xfrm>
            <a:off x="12432068" y="7071497"/>
            <a:ext cx="979984" cy="0"/>
          </a:xfrm>
          <a:prstGeom prst="line">
            <a:avLst/>
          </a:prstGeom>
          <a:ln cap="flat" w="38100">
            <a:solidFill>
              <a:srgbClr val="373737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5" id="25"/>
          <p:cNvGrpSpPr/>
          <p:nvPr/>
        </p:nvGrpSpPr>
        <p:grpSpPr>
          <a:xfrm rot="0">
            <a:off x="5528243" y="1028700"/>
            <a:ext cx="7231514" cy="1227361"/>
            <a:chOff x="0" y="0"/>
            <a:chExt cx="9642019" cy="163648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0" y="142875"/>
              <a:ext cx="3258797" cy="1493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63"/>
                </a:lnSpc>
              </a:pPr>
              <a:r>
                <a:rPr lang="en-US" sz="8112" b="true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Res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522113" y="142875"/>
              <a:ext cx="7119906" cy="14936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63"/>
                </a:lnSpc>
              </a:pPr>
              <a:r>
                <a:rPr lang="en-US" sz="8112" b="true">
                  <a:solidFill>
                    <a:srgbClr val="259D84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tricciones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2432068" y="3810185"/>
            <a:ext cx="3026049" cy="567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2310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Gestión restringida de usuarios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432068" y="4586441"/>
            <a:ext cx="3996291" cy="22118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10211" indent="-205106" lvl="1">
              <a:lnSpc>
                <a:spcPts val="2489"/>
              </a:lnSpc>
              <a:buFont typeface="Arial"/>
              <a:buChar char="•"/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El administrador no puede modificar su propia contraseña </a:t>
            </a:r>
          </a:p>
          <a:p>
            <a:pPr algn="just" marL="410211" indent="-205106" lvl="1">
              <a:lnSpc>
                <a:spcPts val="2489"/>
              </a:lnSpc>
              <a:spcBef>
                <a:spcPct val="0"/>
              </a:spcBef>
              <a:buFont typeface="Arial"/>
              <a:buChar char="•"/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Tampoco puede editar las contraseñas de otros usuarios</a:t>
            </a:r>
          </a:p>
          <a:p>
            <a:pPr algn="just" marL="0" indent="0" lvl="0">
              <a:lnSpc>
                <a:spcPts val="2489"/>
              </a:lnSpc>
              <a:spcBef>
                <a:spcPct val="0"/>
              </a:spcBef>
            </a:pPr>
          </a:p>
        </p:txBody>
      </p:sp>
      <p:sp>
        <p:nvSpPr>
          <p:cNvPr name="TextBox 30" id="30"/>
          <p:cNvSpPr txBox="true"/>
          <p:nvPr/>
        </p:nvSpPr>
        <p:spPr>
          <a:xfrm rot="0">
            <a:off x="2174944" y="4332859"/>
            <a:ext cx="3996291" cy="15831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La aplicación no permite realizar compras directamente; solo muestra y compara precios de productos publicados por tiendas externas.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174944" y="7419837"/>
            <a:ext cx="3680988" cy="1897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Solo se pueden comparar precios del mismo producto entre distintas tiendas. No se permite comparar productos diferentes (por ejemplo, distintas marcas o formatos).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32068" y="6654794"/>
            <a:ext cx="2504586" cy="301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2310" b="true">
                <a:solidFill>
                  <a:srgbClr val="373737"/>
                </a:solidFill>
                <a:latin typeface="Poppins Bold"/>
                <a:ea typeface="Poppins Bold"/>
                <a:cs typeface="Poppins Bold"/>
                <a:sym typeface="Poppins Bold"/>
              </a:rPr>
              <a:t>Filtros limitados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432068" y="7281047"/>
            <a:ext cx="4983083" cy="12688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  <a:spcBef>
                <a:spcPct val="0"/>
              </a:spcBef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En esta versión inicial, no se filtra por peso del envase (kilos por bolsa), sabor, tipo de mascota o formato de presentación.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03734" y="2035603"/>
            <a:ext cx="6680533" cy="12161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298"/>
              </a:lnSpc>
            </a:pPr>
            <a:r>
              <a:rPr lang="en-US" sz="9020" b="true">
                <a:solidFill>
                  <a:srgbClr val="707070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Conclusión</a:t>
            </a:r>
          </a:p>
        </p:txBody>
      </p:sp>
      <p:grpSp>
        <p:nvGrpSpPr>
          <p:cNvPr name="Group 4" id="4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424504" y="4175697"/>
            <a:ext cx="11438992" cy="1897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89"/>
              </a:lnSpc>
            </a:pPr>
            <a:r>
              <a:rPr lang="en-US" sz="1900">
                <a:solidFill>
                  <a:srgbClr val="373737"/>
                </a:solidFill>
                <a:latin typeface="Poppins"/>
                <a:ea typeface="Poppins"/>
                <a:cs typeface="Poppins"/>
                <a:sym typeface="Poppins"/>
              </a:rPr>
              <a:t>El desarrollo de PetPrice posibilitó que el equipo mejorara sus habilidades para analizar, diseñar y poner en marcha aplicaciones móviles que integran datos externos. Fue necesario entender la estructura interna de varias páginas web, gestionar la extracción de datos de manera eficaz y ética, y desarrollar un sistema que pueda ajustarse a eventuales modificaciones en las páginas fuente. Este procedimiento nos ayudó a apreciar la relevancia de validar los datos, manejar los errores y automatizar controladamente.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643" t="0" r="-11643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995387" y="2705956"/>
            <a:ext cx="10297225" cy="3042938"/>
            <a:chOff x="0" y="0"/>
            <a:chExt cx="13729634" cy="4057251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346780"/>
              <a:ext cx="8426193" cy="37104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486"/>
                </a:lnSpc>
              </a:pPr>
              <a:r>
                <a:rPr lang="en-US" sz="20093" b="true">
                  <a:solidFill>
                    <a:srgbClr val="70707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Grac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8426193" y="342900"/>
              <a:ext cx="5303440" cy="37104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8486"/>
                </a:lnSpc>
              </a:pPr>
              <a:r>
                <a:rPr lang="en-US" sz="20093" b="true">
                  <a:solidFill>
                    <a:srgbClr val="259D84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ias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8281243">
            <a:off x="16394865" y="8648990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857250" cap="sq">
              <a:gradFill>
                <a:gsLst>
                  <a:gs pos="0">
                    <a:srgbClr val="30C2B7">
                      <a:alpha val="100000"/>
                    </a:srgbClr>
                  </a:gs>
                  <a:gs pos="33333">
                    <a:srgbClr val="70E1A6">
                      <a:alpha val="100000"/>
                    </a:srgbClr>
                  </a:gs>
                  <a:gs pos="66667">
                    <a:srgbClr val="96EFC1">
                      <a:alpha val="100000"/>
                    </a:srgbClr>
                  </a:gs>
                  <a:gs pos="100000">
                    <a:srgbClr val="96EFC1">
                      <a:alpha val="95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-5400000">
            <a:off x="-651702" y="8506649"/>
            <a:ext cx="1948521" cy="2471962"/>
            <a:chOff x="0" y="0"/>
            <a:chExt cx="513191" cy="65105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13191" cy="651052"/>
            </a:xfrm>
            <a:custGeom>
              <a:avLst/>
              <a:gdLst/>
              <a:ahLst/>
              <a:cxnLst/>
              <a:rect r="r" b="b" t="t" l="l"/>
              <a:pathLst>
                <a:path h="651052" w="513191">
                  <a:moveTo>
                    <a:pt x="246340" y="0"/>
                  </a:moveTo>
                  <a:lnTo>
                    <a:pt x="266850" y="0"/>
                  </a:lnTo>
                  <a:cubicBezTo>
                    <a:pt x="332184" y="0"/>
                    <a:pt x="394841" y="25954"/>
                    <a:pt x="441039" y="72151"/>
                  </a:cubicBezTo>
                  <a:cubicBezTo>
                    <a:pt x="487237" y="118349"/>
                    <a:pt x="513191" y="181007"/>
                    <a:pt x="513191" y="246340"/>
                  </a:cubicBezTo>
                  <a:lnTo>
                    <a:pt x="513191" y="404712"/>
                  </a:lnTo>
                  <a:cubicBezTo>
                    <a:pt x="513191" y="470045"/>
                    <a:pt x="487237" y="532703"/>
                    <a:pt x="441039" y="578900"/>
                  </a:cubicBezTo>
                  <a:cubicBezTo>
                    <a:pt x="394841" y="625098"/>
                    <a:pt x="332184" y="651052"/>
                    <a:pt x="266850" y="651052"/>
                  </a:cubicBezTo>
                  <a:lnTo>
                    <a:pt x="246340" y="651052"/>
                  </a:lnTo>
                  <a:cubicBezTo>
                    <a:pt x="181007" y="651052"/>
                    <a:pt x="118349" y="625098"/>
                    <a:pt x="72151" y="578900"/>
                  </a:cubicBezTo>
                  <a:cubicBezTo>
                    <a:pt x="25954" y="532703"/>
                    <a:pt x="0" y="470045"/>
                    <a:pt x="0" y="404712"/>
                  </a:cubicBezTo>
                  <a:lnTo>
                    <a:pt x="0" y="246340"/>
                  </a:lnTo>
                  <a:cubicBezTo>
                    <a:pt x="0" y="181007"/>
                    <a:pt x="25954" y="118349"/>
                    <a:pt x="72151" y="72151"/>
                  </a:cubicBezTo>
                  <a:cubicBezTo>
                    <a:pt x="118349" y="25954"/>
                    <a:pt x="181007" y="0"/>
                    <a:pt x="24634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30C2B7">
                    <a:alpha val="100000"/>
                  </a:srgbClr>
                </a:gs>
                <a:gs pos="33333">
                  <a:srgbClr val="70E1A6">
                    <a:alpha val="100000"/>
                  </a:srgbClr>
                </a:gs>
                <a:gs pos="66667">
                  <a:srgbClr val="96EFC1">
                    <a:alpha val="54000"/>
                  </a:srgbClr>
                </a:gs>
                <a:gs pos="100000">
                  <a:srgbClr val="96EFC1">
                    <a:alpha val="9500"/>
                  </a:srgbClr>
                </a:gs>
              </a:gsLst>
              <a:lin ang="2700000"/>
            </a:gra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513191" cy="7082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049189" y="4883915"/>
            <a:ext cx="8074983" cy="2697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86"/>
              </a:lnSpc>
            </a:pPr>
            <a:r>
              <a:rPr lang="en-US" sz="20093" b="true">
                <a:solidFill>
                  <a:srgbClr val="707070"/>
                </a:solidFill>
                <a:latin typeface="Poppins Bold"/>
                <a:ea typeface="Poppins Bold"/>
                <a:cs typeface="Poppins Bold"/>
                <a:sym typeface="Poppins Bold"/>
              </a:rPr>
              <a:t>ver!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61611" y="4883915"/>
            <a:ext cx="4466114" cy="26971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86"/>
              </a:lnSpc>
            </a:pPr>
            <a:r>
              <a:rPr lang="en-US" sz="20093" b="true">
                <a:solidFill>
                  <a:srgbClr val="259D84"/>
                </a:solidFill>
                <a:latin typeface="Poppins Bold"/>
                <a:ea typeface="Poppins Bold"/>
                <a:cs typeface="Poppins Bold"/>
                <a:sym typeface="Poppins Bold"/>
              </a:rPr>
              <a:t>por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DAG1Chp5Bho</dc:identifier>
  <dcterms:modified xsi:type="dcterms:W3CDTF">2011-08-01T06:04:30Z</dcterms:modified>
  <cp:revision>1</cp:revision>
  <dc:title>Ppt fase2 Petprice</dc:title>
</cp:coreProperties>
</file>