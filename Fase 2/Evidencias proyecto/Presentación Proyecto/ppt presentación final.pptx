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HK Grotesk Medium" panose="020B0604020202020204" charset="0"/>
      <p:regular r:id="rId13"/>
    </p:embeddedFont>
    <p:embeddedFont>
      <p:font typeface="Poppins" panose="020B0604020202020204" charset="0"/>
      <p:regular r:id="rId14"/>
      <p:bold r:id="rId15"/>
      <p:italic r:id="rId16"/>
      <p:boldItalic r:id="rId17"/>
    </p:embeddedFont>
    <p:embeddedFont>
      <p:font typeface="Poppins Bold" panose="020B060402020202020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1CBA62-E206-E0F9-1E2D-A4EEF0BEB569}" v="21" dt="2025-11-21T23:01:00.414"/>
    <p1510:client id="{BD4EE91C-300A-E456-17DD-30662B15F0CF}" v="30" dt="2025-11-21T23:01:33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DIEGO CARDENAS CRUZ" userId="S::ax.cardenas@duocuc.cl::0ec9aa3f-eb7b-444f-9b47-99cbb4596f83" providerId="AD" clId="Web-{7E1CBA62-E206-E0F9-1E2D-A4EEF0BEB569}"/>
    <pc:docChg chg="modSld">
      <pc:chgData name="AXEL DIEGO CARDENAS CRUZ" userId="S::ax.cardenas@duocuc.cl::0ec9aa3f-eb7b-444f-9b47-99cbb4596f83" providerId="AD" clId="Web-{7E1CBA62-E206-E0F9-1E2D-A4EEF0BEB569}" dt="2025-11-21T23:01:00.414" v="16" actId="1076"/>
      <pc:docMkLst>
        <pc:docMk/>
      </pc:docMkLst>
      <pc:sldChg chg="addSp delSp modSp">
        <pc:chgData name="AXEL DIEGO CARDENAS CRUZ" userId="S::ax.cardenas@duocuc.cl::0ec9aa3f-eb7b-444f-9b47-99cbb4596f83" providerId="AD" clId="Web-{7E1CBA62-E206-E0F9-1E2D-A4EEF0BEB569}" dt="2025-11-21T23:01:00.414" v="16" actId="1076"/>
        <pc:sldMkLst>
          <pc:docMk/>
          <pc:sldMk cId="0" sldId="261"/>
        </pc:sldMkLst>
        <pc:spChg chg="del">
          <ac:chgData name="AXEL DIEGO CARDENAS CRUZ" userId="S::ax.cardenas@duocuc.cl::0ec9aa3f-eb7b-444f-9b47-99cbb4596f83" providerId="AD" clId="Web-{7E1CBA62-E206-E0F9-1E2D-A4EEF0BEB569}" dt="2025-11-21T23:00:27.286" v="5"/>
          <ac:spMkLst>
            <pc:docMk/>
            <pc:sldMk cId="0" sldId="261"/>
            <ac:spMk id="9" creationId="{00000000-0000-0000-0000-000000000000}"/>
          </ac:spMkLst>
        </pc:spChg>
        <pc:spChg chg="mod">
          <ac:chgData name="AXEL DIEGO CARDENAS CRUZ" userId="S::ax.cardenas@duocuc.cl::0ec9aa3f-eb7b-444f-9b47-99cbb4596f83" providerId="AD" clId="Web-{7E1CBA62-E206-E0F9-1E2D-A4EEF0BEB569}" dt="2025-11-21T23:01:00.414" v="16" actId="1076"/>
          <ac:spMkLst>
            <pc:docMk/>
            <pc:sldMk cId="0" sldId="261"/>
            <ac:spMk id="12" creationId="{00000000-0000-0000-0000-000000000000}"/>
          </ac:spMkLst>
        </pc:spChg>
        <pc:picChg chg="add mod">
          <ac:chgData name="AXEL DIEGO CARDENAS CRUZ" userId="S::ax.cardenas@duocuc.cl::0ec9aa3f-eb7b-444f-9b47-99cbb4596f83" providerId="AD" clId="Web-{7E1CBA62-E206-E0F9-1E2D-A4EEF0BEB569}" dt="2025-11-21T23:00:36.678" v="7" actId="14100"/>
          <ac:picMkLst>
            <pc:docMk/>
            <pc:sldMk cId="0" sldId="261"/>
            <ac:picMk id="13" creationId="{8AAB6E5B-72F6-00DB-E25A-9AA48FDD8EB9}"/>
          </ac:picMkLst>
        </pc:picChg>
      </pc:sldChg>
    </pc:docChg>
  </pc:docChgLst>
  <pc:docChgLst>
    <pc:chgData name="AXEL DIEGO CARDENAS CRUZ" userId="S::ax.cardenas@duocuc.cl::0ec9aa3f-eb7b-444f-9b47-99cbb4596f83" providerId="AD" clId="Web-{BD4EE91C-300A-E456-17DD-30662B15F0CF}"/>
    <pc:docChg chg="modSld">
      <pc:chgData name="AXEL DIEGO CARDENAS CRUZ" userId="S::ax.cardenas@duocuc.cl::0ec9aa3f-eb7b-444f-9b47-99cbb4596f83" providerId="AD" clId="Web-{BD4EE91C-300A-E456-17DD-30662B15F0CF}" dt="2025-11-21T23:01:33.031" v="14" actId="20577"/>
      <pc:docMkLst>
        <pc:docMk/>
      </pc:docMkLst>
      <pc:sldChg chg="modSp">
        <pc:chgData name="AXEL DIEGO CARDENAS CRUZ" userId="S::ax.cardenas@duocuc.cl::0ec9aa3f-eb7b-444f-9b47-99cbb4596f83" providerId="AD" clId="Web-{BD4EE91C-300A-E456-17DD-30662B15F0CF}" dt="2025-11-21T23:01:33.031" v="14" actId="20577"/>
        <pc:sldMkLst>
          <pc:docMk/>
          <pc:sldMk cId="0" sldId="256"/>
        </pc:sldMkLst>
        <pc:spChg chg="mod">
          <ac:chgData name="AXEL DIEGO CARDENAS CRUZ" userId="S::ax.cardenas@duocuc.cl::0ec9aa3f-eb7b-444f-9b47-99cbb4596f83" providerId="AD" clId="Web-{BD4EE91C-300A-E456-17DD-30662B15F0CF}" dt="2025-11-21T23:01:33.031" v="14" actId="20577"/>
          <ac:spMkLst>
            <pc:docMk/>
            <pc:sldMk cId="0" sldId="256"/>
            <ac:spMk id="2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solidFill>
              <a:srgbClr val="30C2B7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8281243">
            <a:off x="11245708" y="8675631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730370" y="2272825"/>
            <a:ext cx="6411518" cy="12686290"/>
            <a:chOff x="0" y="0"/>
            <a:chExt cx="2620010" cy="5184140"/>
          </a:xfrm>
        </p:grpSpPr>
        <p:sp>
          <p:nvSpPr>
            <p:cNvPr id="10" name="Freeform 1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66395" t="-3712" r="-66395" b="-3712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70E1B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70E1B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70E1B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70E1B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00AFA5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558540" y="3009068"/>
            <a:ext cx="7276292" cy="375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105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comparador de precios de productos para mascotas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8540" y="4290014"/>
            <a:ext cx="6811366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Equipo Axel, Diego Castillo, Diego Vargas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Carrera Ingeniería </a:t>
            </a:r>
            <a:r>
              <a:rPr lang="en-US" sz="2000" err="1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Informática</a:t>
            </a:r>
            <a:endParaRPr lang="en-US" sz="2000" err="1">
              <a:solidFill>
                <a:srgbClr val="373737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</a:pPr>
            <a:r>
              <a:rPr lang="en-US" sz="2000" err="1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Asignatura</a:t>
            </a:r>
            <a:r>
              <a:rPr lang="en-US" sz="2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 Capstone</a:t>
            </a:r>
            <a:endParaRPr lang="en-US" sz="2000">
              <a:solidFill>
                <a:srgbClr val="373737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</a:pPr>
            <a:r>
              <a:rPr lang="en-US" sz="2000" err="1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Sede</a:t>
            </a:r>
            <a:r>
              <a:rPr lang="en-US" sz="2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 PAO</a:t>
            </a:r>
            <a:endParaRPr lang="en-US" sz="2000">
              <a:solidFill>
                <a:srgbClr val="373737"/>
              </a:solidFill>
              <a:latin typeface="Poppins"/>
              <a:ea typeface="Poppins"/>
              <a:cs typeface="Poppins"/>
            </a:endParaRPr>
          </a:p>
          <a:p>
            <a:pPr algn="l">
              <a:lnSpc>
                <a:spcPts val="2800"/>
              </a:lnSpc>
            </a:pPr>
            <a:r>
              <a:rPr lang="en-US" sz="2000" err="1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Profesor</a:t>
            </a:r>
            <a:r>
              <a:rPr lang="en-US" sz="2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 Arturo Vargas</a:t>
            </a:r>
            <a:endParaRPr lang="en-US" sz="2000">
              <a:solidFill>
                <a:srgbClr val="373737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558540" y="1838489"/>
            <a:ext cx="5969238" cy="1227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079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PetPrice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71246" y="1838489"/>
            <a:ext cx="3397318" cy="1227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2"/>
              </a:lnSpc>
            </a:pPr>
            <a:r>
              <a:rPr lang="en-US" sz="9079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8281243">
            <a:off x="16394865" y="864899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98296" y="1999182"/>
            <a:ext cx="6437639" cy="6288635"/>
            <a:chOff x="0" y="0"/>
            <a:chExt cx="4828540" cy="4716780"/>
          </a:xfrm>
        </p:grpSpPr>
        <p:sp>
          <p:nvSpPr>
            <p:cNvPr id="10" name="Freeform 10"/>
            <p:cNvSpPr/>
            <p:nvPr/>
          </p:nvSpPr>
          <p:spPr>
            <a:xfrm>
              <a:off x="1103" y="1273"/>
              <a:ext cx="4830645" cy="4716345"/>
            </a:xfrm>
            <a:custGeom>
              <a:avLst/>
              <a:gdLst/>
              <a:ahLst/>
              <a:cxnLst/>
              <a:rect l="l" t="t" r="r" b="b"/>
              <a:pathLst>
                <a:path w="4830645" h="4716345">
                  <a:moveTo>
                    <a:pt x="3415197" y="4653277"/>
                  </a:moveTo>
                  <a:cubicBezTo>
                    <a:pt x="3387257" y="4660897"/>
                    <a:pt x="3365667" y="4671057"/>
                    <a:pt x="3344077" y="4673597"/>
                  </a:cubicBezTo>
                  <a:cubicBezTo>
                    <a:pt x="3222157" y="4683757"/>
                    <a:pt x="3101507" y="4693917"/>
                    <a:pt x="2979587" y="4702807"/>
                  </a:cubicBezTo>
                  <a:cubicBezTo>
                    <a:pt x="2917357" y="4706617"/>
                    <a:pt x="2855127" y="4710427"/>
                    <a:pt x="2792897" y="4711697"/>
                  </a:cubicBezTo>
                  <a:cubicBezTo>
                    <a:pt x="2725587" y="4714237"/>
                    <a:pt x="2658277" y="4718047"/>
                    <a:pt x="2592237" y="4715507"/>
                  </a:cubicBezTo>
                  <a:cubicBezTo>
                    <a:pt x="2528737" y="4714237"/>
                    <a:pt x="2465237" y="4710427"/>
                    <a:pt x="2404277" y="4698997"/>
                  </a:cubicBezTo>
                  <a:cubicBezTo>
                    <a:pt x="2325537" y="4685027"/>
                    <a:pt x="2245527" y="4685027"/>
                    <a:pt x="2168057" y="4672327"/>
                  </a:cubicBezTo>
                  <a:cubicBezTo>
                    <a:pt x="1966127" y="4639307"/>
                    <a:pt x="1760387" y="4648197"/>
                    <a:pt x="1557187" y="4634227"/>
                  </a:cubicBezTo>
                  <a:cubicBezTo>
                    <a:pt x="1442887" y="4626607"/>
                    <a:pt x="1328587" y="4608827"/>
                    <a:pt x="1214287" y="4593587"/>
                  </a:cubicBezTo>
                  <a:cubicBezTo>
                    <a:pt x="1084747" y="4577077"/>
                    <a:pt x="955207" y="4558027"/>
                    <a:pt x="824397" y="4540247"/>
                  </a:cubicBezTo>
                  <a:cubicBezTo>
                    <a:pt x="729147" y="4527547"/>
                    <a:pt x="632627" y="4514847"/>
                    <a:pt x="537377" y="4502147"/>
                  </a:cubicBezTo>
                  <a:cubicBezTo>
                    <a:pt x="534837" y="4502147"/>
                    <a:pt x="532297" y="4500877"/>
                    <a:pt x="529757" y="4500877"/>
                  </a:cubicBezTo>
                  <a:cubicBezTo>
                    <a:pt x="449747" y="4466587"/>
                    <a:pt x="364657" y="4439917"/>
                    <a:pt x="290997" y="4395467"/>
                  </a:cubicBezTo>
                  <a:cubicBezTo>
                    <a:pt x="166537" y="4319267"/>
                    <a:pt x="113197" y="4197347"/>
                    <a:pt x="108117" y="4053837"/>
                  </a:cubicBezTo>
                  <a:cubicBezTo>
                    <a:pt x="106847" y="4004307"/>
                    <a:pt x="100497" y="3956047"/>
                    <a:pt x="100497" y="3906517"/>
                  </a:cubicBezTo>
                  <a:cubicBezTo>
                    <a:pt x="101767" y="3837937"/>
                    <a:pt x="106847" y="3770627"/>
                    <a:pt x="110657" y="3703317"/>
                  </a:cubicBezTo>
                  <a:cubicBezTo>
                    <a:pt x="120817" y="3502657"/>
                    <a:pt x="125897" y="3301997"/>
                    <a:pt x="110657" y="3101337"/>
                  </a:cubicBezTo>
                  <a:cubicBezTo>
                    <a:pt x="96687" y="2920997"/>
                    <a:pt x="83987" y="2741927"/>
                    <a:pt x="70017" y="2561587"/>
                  </a:cubicBezTo>
                  <a:cubicBezTo>
                    <a:pt x="61127" y="2446017"/>
                    <a:pt x="49697" y="2331717"/>
                    <a:pt x="42077" y="2216147"/>
                  </a:cubicBezTo>
                  <a:cubicBezTo>
                    <a:pt x="36997" y="2139947"/>
                    <a:pt x="38267" y="2062477"/>
                    <a:pt x="33187" y="1986277"/>
                  </a:cubicBezTo>
                  <a:cubicBezTo>
                    <a:pt x="30647" y="1943097"/>
                    <a:pt x="16677" y="1901187"/>
                    <a:pt x="15407" y="1858007"/>
                  </a:cubicBezTo>
                  <a:cubicBezTo>
                    <a:pt x="10327" y="1753867"/>
                    <a:pt x="9057" y="1648457"/>
                    <a:pt x="6517" y="1543047"/>
                  </a:cubicBezTo>
                  <a:cubicBezTo>
                    <a:pt x="5247" y="1502407"/>
                    <a:pt x="-1103" y="1461767"/>
                    <a:pt x="167" y="1421127"/>
                  </a:cubicBezTo>
                  <a:cubicBezTo>
                    <a:pt x="1437" y="1357627"/>
                    <a:pt x="9057" y="1294127"/>
                    <a:pt x="10327" y="1230627"/>
                  </a:cubicBezTo>
                  <a:cubicBezTo>
                    <a:pt x="11597" y="1156967"/>
                    <a:pt x="3977" y="1083307"/>
                    <a:pt x="6517" y="1010917"/>
                  </a:cubicBezTo>
                  <a:cubicBezTo>
                    <a:pt x="6517" y="941067"/>
                    <a:pt x="15407" y="872487"/>
                    <a:pt x="24297" y="802637"/>
                  </a:cubicBezTo>
                  <a:cubicBezTo>
                    <a:pt x="26837" y="778507"/>
                    <a:pt x="44617" y="756917"/>
                    <a:pt x="49697" y="732787"/>
                  </a:cubicBezTo>
                  <a:cubicBezTo>
                    <a:pt x="71287" y="613407"/>
                    <a:pt x="94147" y="494027"/>
                    <a:pt x="150027" y="383537"/>
                  </a:cubicBezTo>
                  <a:cubicBezTo>
                    <a:pt x="162727" y="359407"/>
                    <a:pt x="183047" y="337817"/>
                    <a:pt x="202097" y="318767"/>
                  </a:cubicBezTo>
                  <a:cubicBezTo>
                    <a:pt x="208447" y="312417"/>
                    <a:pt x="223687" y="316227"/>
                    <a:pt x="227497" y="316227"/>
                  </a:cubicBezTo>
                  <a:cubicBezTo>
                    <a:pt x="236387" y="299717"/>
                    <a:pt x="241467" y="283207"/>
                    <a:pt x="251627" y="275587"/>
                  </a:cubicBezTo>
                  <a:cubicBezTo>
                    <a:pt x="306237" y="233677"/>
                    <a:pt x="363387" y="203197"/>
                    <a:pt x="434507" y="195577"/>
                  </a:cubicBezTo>
                  <a:cubicBezTo>
                    <a:pt x="487847" y="189227"/>
                    <a:pt x="539917" y="166367"/>
                    <a:pt x="593257" y="153667"/>
                  </a:cubicBezTo>
                  <a:cubicBezTo>
                    <a:pt x="658027" y="138427"/>
                    <a:pt x="722797" y="120647"/>
                    <a:pt x="790107" y="111757"/>
                  </a:cubicBezTo>
                  <a:cubicBezTo>
                    <a:pt x="851067" y="104137"/>
                    <a:pt x="909487" y="87627"/>
                    <a:pt x="971717" y="82547"/>
                  </a:cubicBezTo>
                  <a:cubicBezTo>
                    <a:pt x="1035217" y="77467"/>
                    <a:pt x="1098717" y="62227"/>
                    <a:pt x="1163487" y="57147"/>
                  </a:cubicBezTo>
                  <a:cubicBezTo>
                    <a:pt x="1338747" y="44447"/>
                    <a:pt x="1515277" y="35557"/>
                    <a:pt x="1690537" y="25397"/>
                  </a:cubicBezTo>
                  <a:cubicBezTo>
                    <a:pt x="1733717" y="22857"/>
                    <a:pt x="1776897" y="25397"/>
                    <a:pt x="1820077" y="26667"/>
                  </a:cubicBezTo>
                  <a:cubicBezTo>
                    <a:pt x="1841667" y="27937"/>
                    <a:pt x="1863257" y="33017"/>
                    <a:pt x="1886117" y="35557"/>
                  </a:cubicBezTo>
                  <a:cubicBezTo>
                    <a:pt x="1896277" y="36827"/>
                    <a:pt x="1906437" y="33017"/>
                    <a:pt x="1916597" y="33017"/>
                  </a:cubicBezTo>
                  <a:cubicBezTo>
                    <a:pt x="1947077" y="33017"/>
                    <a:pt x="1978827" y="33017"/>
                    <a:pt x="2009307" y="31747"/>
                  </a:cubicBezTo>
                  <a:cubicBezTo>
                    <a:pt x="2067727" y="29207"/>
                    <a:pt x="2127417" y="22857"/>
                    <a:pt x="2185837" y="22857"/>
                  </a:cubicBezTo>
                  <a:cubicBezTo>
                    <a:pt x="2242987" y="22857"/>
                    <a:pt x="2300137" y="26667"/>
                    <a:pt x="2357287" y="29207"/>
                  </a:cubicBezTo>
                  <a:lnTo>
                    <a:pt x="2403007" y="29207"/>
                  </a:lnTo>
                  <a:cubicBezTo>
                    <a:pt x="2472857" y="26667"/>
                    <a:pt x="2541437" y="26667"/>
                    <a:pt x="2611287" y="22857"/>
                  </a:cubicBezTo>
                  <a:cubicBezTo>
                    <a:pt x="2678597" y="19047"/>
                    <a:pt x="2744637" y="10157"/>
                    <a:pt x="2811947" y="6347"/>
                  </a:cubicBezTo>
                  <a:cubicBezTo>
                    <a:pt x="2843697" y="3807"/>
                    <a:pt x="2876717" y="3807"/>
                    <a:pt x="2908467" y="10157"/>
                  </a:cubicBezTo>
                  <a:cubicBezTo>
                    <a:pt x="2956727" y="19047"/>
                    <a:pt x="3002447" y="24127"/>
                    <a:pt x="3050707" y="10157"/>
                  </a:cubicBezTo>
                  <a:cubicBezTo>
                    <a:pt x="3068487" y="5077"/>
                    <a:pt x="3091347" y="13967"/>
                    <a:pt x="3111667" y="16507"/>
                  </a:cubicBezTo>
                  <a:cubicBezTo>
                    <a:pt x="3120557" y="17777"/>
                    <a:pt x="3130717" y="20317"/>
                    <a:pt x="3135797" y="16507"/>
                  </a:cubicBezTo>
                  <a:cubicBezTo>
                    <a:pt x="3170087" y="-8893"/>
                    <a:pt x="3201837" y="-2543"/>
                    <a:pt x="3234857" y="19047"/>
                  </a:cubicBezTo>
                  <a:cubicBezTo>
                    <a:pt x="3238667" y="21587"/>
                    <a:pt x="3248827" y="15237"/>
                    <a:pt x="3256447" y="15237"/>
                  </a:cubicBezTo>
                  <a:cubicBezTo>
                    <a:pt x="3286927" y="15237"/>
                    <a:pt x="3317407" y="15237"/>
                    <a:pt x="3349157" y="16507"/>
                  </a:cubicBezTo>
                  <a:cubicBezTo>
                    <a:pt x="3372017" y="17777"/>
                    <a:pt x="3393607" y="25397"/>
                    <a:pt x="3416467" y="27937"/>
                  </a:cubicBezTo>
                  <a:cubicBezTo>
                    <a:pt x="3465997" y="34287"/>
                    <a:pt x="3516797" y="44447"/>
                    <a:pt x="3567597" y="44447"/>
                  </a:cubicBezTo>
                  <a:cubicBezTo>
                    <a:pt x="3662847" y="45717"/>
                    <a:pt x="3758097" y="49527"/>
                    <a:pt x="3852077" y="69847"/>
                  </a:cubicBezTo>
                  <a:cubicBezTo>
                    <a:pt x="3939707" y="88897"/>
                    <a:pt x="4029877" y="88897"/>
                    <a:pt x="4118777" y="104137"/>
                  </a:cubicBezTo>
                  <a:cubicBezTo>
                    <a:pt x="4172117" y="113027"/>
                    <a:pt x="4226727" y="129537"/>
                    <a:pt x="4272447" y="156207"/>
                  </a:cubicBezTo>
                  <a:cubicBezTo>
                    <a:pt x="4321977" y="184147"/>
                    <a:pt x="4360077" y="229867"/>
                    <a:pt x="4404527" y="267967"/>
                  </a:cubicBezTo>
                  <a:cubicBezTo>
                    <a:pt x="4421037" y="281937"/>
                    <a:pt x="4445167" y="292097"/>
                    <a:pt x="4456597" y="309877"/>
                  </a:cubicBezTo>
                  <a:cubicBezTo>
                    <a:pt x="4489617" y="358137"/>
                    <a:pt x="4518827" y="408937"/>
                    <a:pt x="4548037" y="459737"/>
                  </a:cubicBezTo>
                  <a:cubicBezTo>
                    <a:pt x="4569627" y="496567"/>
                    <a:pt x="4591217" y="534667"/>
                    <a:pt x="4607727" y="572767"/>
                  </a:cubicBezTo>
                  <a:cubicBezTo>
                    <a:pt x="4625507" y="617217"/>
                    <a:pt x="4639477" y="662937"/>
                    <a:pt x="4653447" y="709927"/>
                  </a:cubicBezTo>
                  <a:cubicBezTo>
                    <a:pt x="4675037" y="783587"/>
                    <a:pt x="4700437" y="857247"/>
                    <a:pt x="4714407" y="933447"/>
                  </a:cubicBezTo>
                  <a:cubicBezTo>
                    <a:pt x="4734727" y="1040127"/>
                    <a:pt x="4744887" y="1149347"/>
                    <a:pt x="4760127" y="1257297"/>
                  </a:cubicBezTo>
                  <a:cubicBezTo>
                    <a:pt x="4765207" y="1292857"/>
                    <a:pt x="4771557" y="1328417"/>
                    <a:pt x="4774097" y="1363977"/>
                  </a:cubicBezTo>
                  <a:cubicBezTo>
                    <a:pt x="4781717" y="1465577"/>
                    <a:pt x="4786797" y="1565907"/>
                    <a:pt x="4793147" y="1667507"/>
                  </a:cubicBezTo>
                  <a:cubicBezTo>
                    <a:pt x="4802037" y="1793237"/>
                    <a:pt x="4814737" y="1917697"/>
                    <a:pt x="4821087" y="2043427"/>
                  </a:cubicBezTo>
                  <a:cubicBezTo>
                    <a:pt x="4827437" y="2164077"/>
                    <a:pt x="4832517" y="2285997"/>
                    <a:pt x="4829977" y="2407917"/>
                  </a:cubicBezTo>
                  <a:cubicBezTo>
                    <a:pt x="4826167" y="2611117"/>
                    <a:pt x="4816007" y="2813047"/>
                    <a:pt x="4805847" y="3016247"/>
                  </a:cubicBezTo>
                  <a:cubicBezTo>
                    <a:pt x="4799497" y="3141977"/>
                    <a:pt x="4790607" y="3266437"/>
                    <a:pt x="4777907" y="3390897"/>
                  </a:cubicBezTo>
                  <a:cubicBezTo>
                    <a:pt x="4765207" y="3515357"/>
                    <a:pt x="4746157" y="3638547"/>
                    <a:pt x="4732187" y="3763007"/>
                  </a:cubicBezTo>
                  <a:cubicBezTo>
                    <a:pt x="4722027" y="3849367"/>
                    <a:pt x="4719487" y="3935727"/>
                    <a:pt x="4708057" y="4020817"/>
                  </a:cubicBezTo>
                  <a:cubicBezTo>
                    <a:pt x="4697897" y="4098287"/>
                    <a:pt x="4659797" y="4166867"/>
                    <a:pt x="4608997" y="4224017"/>
                  </a:cubicBezTo>
                  <a:cubicBezTo>
                    <a:pt x="4567087" y="4272277"/>
                    <a:pt x="4534067" y="4326887"/>
                    <a:pt x="4490887" y="4373877"/>
                  </a:cubicBezTo>
                  <a:cubicBezTo>
                    <a:pt x="4452787" y="4415787"/>
                    <a:pt x="4410877" y="4457697"/>
                    <a:pt x="4344837" y="4458967"/>
                  </a:cubicBezTo>
                  <a:cubicBezTo>
                    <a:pt x="4329597" y="4458967"/>
                    <a:pt x="4315627" y="4474207"/>
                    <a:pt x="4300387" y="4481827"/>
                  </a:cubicBezTo>
                  <a:cubicBezTo>
                    <a:pt x="4235617" y="4509767"/>
                    <a:pt x="4168307" y="4533897"/>
                    <a:pt x="4104807" y="4564377"/>
                  </a:cubicBezTo>
                  <a:cubicBezTo>
                    <a:pt x="3987967" y="4620257"/>
                    <a:pt x="3862237" y="4629147"/>
                    <a:pt x="3736507" y="4634227"/>
                  </a:cubicBezTo>
                  <a:cubicBezTo>
                    <a:pt x="3688247" y="4636767"/>
                    <a:pt x="3638717" y="4632957"/>
                    <a:pt x="3590457" y="4636767"/>
                  </a:cubicBezTo>
                  <a:cubicBezTo>
                    <a:pt x="3566327" y="4638037"/>
                    <a:pt x="3543467" y="4649467"/>
                    <a:pt x="3520607" y="4654547"/>
                  </a:cubicBezTo>
                  <a:cubicBezTo>
                    <a:pt x="3510447" y="4657087"/>
                    <a:pt x="3500287" y="4655817"/>
                    <a:pt x="3488857" y="4657087"/>
                  </a:cubicBezTo>
                  <a:cubicBezTo>
                    <a:pt x="3473617" y="4658357"/>
                    <a:pt x="3458377" y="4662167"/>
                    <a:pt x="3443137" y="4660897"/>
                  </a:cubicBezTo>
                  <a:cubicBezTo>
                    <a:pt x="3427897" y="4658357"/>
                    <a:pt x="3417737" y="4653277"/>
                    <a:pt x="3415197" y="4653277"/>
                  </a:cubicBezTo>
                  <a:close/>
                </a:path>
              </a:pathLst>
            </a:custGeom>
            <a:blipFill>
              <a:blip r:embed="rId3"/>
              <a:stretch>
                <a:fillRect t="-14014" b="-1401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 flipV="1">
            <a:off x="6585253" y="1273563"/>
            <a:ext cx="2558747" cy="2186565"/>
          </a:xfrm>
          <a:custGeom>
            <a:avLst/>
            <a:gdLst/>
            <a:ahLst/>
            <a:cxnLst/>
            <a:rect l="l" t="t" r="r" b="b"/>
            <a:pathLst>
              <a:path w="2558747" h="2186565">
                <a:moveTo>
                  <a:pt x="0" y="2186566"/>
                </a:moveTo>
                <a:lnTo>
                  <a:pt x="2558747" y="2186566"/>
                </a:lnTo>
                <a:lnTo>
                  <a:pt x="2558747" y="0"/>
                </a:lnTo>
                <a:lnTo>
                  <a:pt x="0" y="0"/>
                </a:lnTo>
                <a:lnTo>
                  <a:pt x="0" y="218656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04545" y="7149264"/>
            <a:ext cx="1450302" cy="1598529"/>
          </a:xfrm>
          <a:custGeom>
            <a:avLst/>
            <a:gdLst/>
            <a:ahLst/>
            <a:cxnLst/>
            <a:rect l="l" t="t" r="r" b="b"/>
            <a:pathLst>
              <a:path w="1450302" h="1598529">
                <a:moveTo>
                  <a:pt x="0" y="0"/>
                </a:moveTo>
                <a:lnTo>
                  <a:pt x="1450302" y="0"/>
                </a:lnTo>
                <a:lnTo>
                  <a:pt x="1450302" y="1598529"/>
                </a:lnTo>
                <a:lnTo>
                  <a:pt x="0" y="1598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468790" y="2093558"/>
            <a:ext cx="6373646" cy="6099884"/>
            <a:chOff x="0" y="0"/>
            <a:chExt cx="8498195" cy="8133179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57150"/>
              <a:ext cx="8498195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Contexto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647726"/>
              <a:ext cx="7588028" cy="651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b="1">
                  <a:solidFill>
                    <a:srgbClr val="259D8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problema detectado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551530"/>
              <a:ext cx="7588028" cy="5581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18"/>
                </a:lnSpc>
              </a:pPr>
              <a:r>
                <a:rPr lang="en-US" sz="2156">
                  <a:solidFill>
                    <a:srgbClr val="373737"/>
                  </a:solidFill>
                  <a:latin typeface="Poppins"/>
                  <a:ea typeface="Poppins"/>
                  <a:cs typeface="Poppins"/>
                  <a:sym typeface="Poppins"/>
                </a:rPr>
                <a:t>El proyecto PetPrice surge ante la necesidad de los dueños de mascotas de comparar precios de alimentos y accesorios entre distintas tiendas del mercado chileno.</a:t>
              </a:r>
            </a:p>
            <a:p>
              <a:pPr marL="0" lvl="0" indent="0" algn="l">
                <a:lnSpc>
                  <a:spcPts val="3018"/>
                </a:lnSpc>
              </a:pPr>
              <a:r>
                <a:rPr lang="en-US" sz="2156">
                  <a:solidFill>
                    <a:srgbClr val="373737"/>
                  </a:solidFill>
                  <a:latin typeface="Poppins"/>
                  <a:ea typeface="Poppins"/>
                  <a:cs typeface="Poppins"/>
                  <a:sym typeface="Poppins"/>
                </a:rPr>
                <a:t> Actualmente no existe una plataforma centralizada que facilite esta búsqueda de forma rápida, confiable y actualizada.</a:t>
              </a:r>
            </a:p>
            <a:p>
              <a:pPr marL="0" lvl="0" indent="0" algn="l">
                <a:lnSpc>
                  <a:spcPts val="3018"/>
                </a:lnSpc>
              </a:pPr>
              <a:r>
                <a:rPr lang="en-US" sz="2156">
                  <a:solidFill>
                    <a:srgbClr val="373737"/>
                  </a:solidFill>
                  <a:latin typeface="Poppins"/>
                  <a:ea typeface="Poppins"/>
                  <a:cs typeface="Poppins"/>
                  <a:sym typeface="Poppins"/>
                </a:rPr>
                <a:t> La aplicación busca entregar transparencia en los precios y apoyar decisiones de compra más informadas.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8281243">
            <a:off x="16394865" y="864899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357701" y="344976"/>
            <a:ext cx="4722376" cy="9597048"/>
            <a:chOff x="0" y="0"/>
            <a:chExt cx="5001260" cy="101638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3"/>
              <a:stretch>
                <a:fillRect l="-45" r="-45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3859" t="-2813" r="-3865" b="-2807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336445" y="1809750"/>
            <a:ext cx="9021255" cy="6267450"/>
            <a:chOff x="0" y="0"/>
            <a:chExt cx="12028340" cy="835659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12028340" cy="1455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19"/>
                </a:lnSpc>
              </a:pPr>
              <a:r>
                <a:rPr lang="en-US" sz="7199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Solución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116622"/>
              <a:ext cx="10600801" cy="6239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104"/>
                </a:lnSpc>
              </a:pPr>
              <a:r>
                <a:rPr lang="en-US" sz="2217">
                  <a:solidFill>
                    <a:srgbClr val="373737"/>
                  </a:solidFill>
                  <a:latin typeface="Poppins"/>
                  <a:ea typeface="Poppins"/>
                  <a:cs typeface="Poppins"/>
                  <a:sym typeface="Poppins"/>
                </a:rPr>
                <a:t>PetPrice propone una aplicación móvil que centraliza y actualiza la información de precios de alimentos y accesorios para mascotas provenientes de distintas tiendas del mercado chileno.</a:t>
              </a:r>
            </a:p>
            <a:p>
              <a:pPr marL="0" lvl="0" indent="0" algn="just">
                <a:lnSpc>
                  <a:spcPts val="3104"/>
                </a:lnSpc>
              </a:pPr>
              <a:r>
                <a:rPr lang="en-US" sz="2217">
                  <a:solidFill>
                    <a:srgbClr val="373737"/>
                  </a:solidFill>
                  <a:latin typeface="Poppins"/>
                  <a:ea typeface="Poppins"/>
                  <a:cs typeface="Poppins"/>
                  <a:sym typeface="Poppins"/>
                </a:rPr>
                <a:t> El sistema integra un módulo de web scraping que recopila automáticamente los valores publicados en las principales plataformas comerciales, permitiendo generar un comparador en tiempo real.</a:t>
              </a:r>
            </a:p>
            <a:p>
              <a:pPr marL="0" lvl="0" indent="0" algn="just">
                <a:lnSpc>
                  <a:spcPts val="3104"/>
                </a:lnSpc>
              </a:pPr>
              <a:r>
                <a:rPr lang="en-US" sz="2217">
                  <a:solidFill>
                    <a:srgbClr val="373737"/>
                  </a:solidFill>
                  <a:latin typeface="Poppins"/>
                  <a:ea typeface="Poppins"/>
                  <a:cs typeface="Poppins"/>
                  <a:sym typeface="Poppins"/>
                </a:rPr>
                <a:t> Además, ofrece funciones como historial de precios, favoritos y alertas personalizadas, con el objetivo de facilitar decisiones de compra informadas y fomentar la transparencia en el mercado pet nacional.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707411" y="5251764"/>
            <a:ext cx="383903" cy="383903"/>
          </a:xfrm>
          <a:custGeom>
            <a:avLst/>
            <a:gdLst/>
            <a:ahLst/>
            <a:cxnLst/>
            <a:rect l="l" t="t" r="r" b="b"/>
            <a:pathLst>
              <a:path w="383903" h="383903">
                <a:moveTo>
                  <a:pt x="0" y="0"/>
                </a:moveTo>
                <a:lnTo>
                  <a:pt x="383903" y="0"/>
                </a:lnTo>
                <a:lnTo>
                  <a:pt x="383903" y="383903"/>
                </a:lnTo>
                <a:lnTo>
                  <a:pt x="0" y="38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7411" y="5988092"/>
            <a:ext cx="383903" cy="383903"/>
          </a:xfrm>
          <a:custGeom>
            <a:avLst/>
            <a:gdLst/>
            <a:ahLst/>
            <a:cxnLst/>
            <a:rect l="l" t="t" r="r" b="b"/>
            <a:pathLst>
              <a:path w="383903" h="383903">
                <a:moveTo>
                  <a:pt x="0" y="0"/>
                </a:moveTo>
                <a:lnTo>
                  <a:pt x="383903" y="0"/>
                </a:lnTo>
                <a:lnTo>
                  <a:pt x="383903" y="383903"/>
                </a:lnTo>
                <a:lnTo>
                  <a:pt x="0" y="38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07411" y="6825606"/>
            <a:ext cx="383903" cy="383903"/>
          </a:xfrm>
          <a:custGeom>
            <a:avLst/>
            <a:gdLst/>
            <a:ahLst/>
            <a:cxnLst/>
            <a:rect l="l" t="t" r="r" b="b"/>
            <a:pathLst>
              <a:path w="383903" h="383903">
                <a:moveTo>
                  <a:pt x="0" y="0"/>
                </a:moveTo>
                <a:lnTo>
                  <a:pt x="383903" y="0"/>
                </a:lnTo>
                <a:lnTo>
                  <a:pt x="383903" y="383903"/>
                </a:lnTo>
                <a:lnTo>
                  <a:pt x="0" y="3839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07411" y="7662696"/>
            <a:ext cx="383903" cy="383903"/>
          </a:xfrm>
          <a:custGeom>
            <a:avLst/>
            <a:gdLst/>
            <a:ahLst/>
            <a:cxnLst/>
            <a:rect l="l" t="t" r="r" b="b"/>
            <a:pathLst>
              <a:path w="383903" h="383903">
                <a:moveTo>
                  <a:pt x="0" y="0"/>
                </a:moveTo>
                <a:lnTo>
                  <a:pt x="383903" y="0"/>
                </a:lnTo>
                <a:lnTo>
                  <a:pt x="383903" y="383903"/>
                </a:lnTo>
                <a:lnTo>
                  <a:pt x="0" y="3839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2542026"/>
            <a:ext cx="6518810" cy="1827557"/>
            <a:chOff x="0" y="0"/>
            <a:chExt cx="8691747" cy="243674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667335"/>
              <a:ext cx="8691747" cy="76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0"/>
                </a:lnSpc>
              </a:pPr>
              <a:r>
                <a:rPr lang="en-US" sz="3500" b="1" spc="10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proyecto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8691747" cy="1689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45"/>
                </a:lnSpc>
              </a:pPr>
              <a:r>
                <a:rPr lang="en-US" sz="7650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Objetivos del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58540" y="5213664"/>
            <a:ext cx="6909498" cy="92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  <a:spcBef>
                <a:spcPct val="0"/>
              </a:spcBef>
            </a:pPr>
            <a:r>
              <a:rPr lang="en-US" sz="1874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Desarrollar una aplicación móvil que permita comparar precios de productos para mascotas entre diferentes tiendas online.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86570" y="5264878"/>
            <a:ext cx="6042226" cy="31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0"/>
              </a:lnSpc>
              <a:spcBef>
                <a:spcPct val="0"/>
              </a:spcBef>
            </a:pPr>
            <a:r>
              <a:rPr lang="en-US" sz="1869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Implementar un sistema de scraping modular.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86570" y="6001206"/>
            <a:ext cx="6042226" cy="31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0"/>
              </a:lnSpc>
              <a:spcBef>
                <a:spcPct val="0"/>
              </a:spcBef>
            </a:pPr>
            <a:r>
              <a:rPr lang="en-US" sz="1869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Diseñar interfaz amigable con Ionic.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86570" y="6686320"/>
            <a:ext cx="6042226" cy="623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0"/>
              </a:lnSpc>
              <a:spcBef>
                <a:spcPct val="0"/>
              </a:spcBef>
            </a:pPr>
            <a:r>
              <a:rPr lang="en-US" sz="1869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Registrar historial de precios y mostrar gráficos.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86570" y="7675810"/>
            <a:ext cx="6042226" cy="31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0"/>
              </a:lnSpc>
              <a:spcBef>
                <a:spcPct val="0"/>
              </a:spcBef>
            </a:pPr>
            <a:r>
              <a:rPr lang="en-US" sz="1869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Permitir gestión de favoritos por usuario.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4588189"/>
            <a:ext cx="552172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spc="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4236" y="4588189"/>
            <a:ext cx="708456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 spc="6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Especifico</a:t>
            </a:r>
          </a:p>
        </p:txBody>
      </p:sp>
      <p:sp>
        <p:nvSpPr>
          <p:cNvPr id="20" name="Freeform 20"/>
          <p:cNvSpPr/>
          <p:nvPr/>
        </p:nvSpPr>
        <p:spPr>
          <a:xfrm>
            <a:off x="1028700" y="5223189"/>
            <a:ext cx="383903" cy="383903"/>
          </a:xfrm>
          <a:custGeom>
            <a:avLst/>
            <a:gdLst/>
            <a:ahLst/>
            <a:cxnLst/>
            <a:rect l="l" t="t" r="r" b="b"/>
            <a:pathLst>
              <a:path w="383903" h="383903">
                <a:moveTo>
                  <a:pt x="0" y="0"/>
                </a:moveTo>
                <a:lnTo>
                  <a:pt x="383903" y="0"/>
                </a:lnTo>
                <a:lnTo>
                  <a:pt x="383903" y="383903"/>
                </a:lnTo>
                <a:lnTo>
                  <a:pt x="0" y="383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277755" y="2360582"/>
            <a:ext cx="5981545" cy="1827557"/>
            <a:chOff x="0" y="0"/>
            <a:chExt cx="7975394" cy="2436743"/>
          </a:xfrm>
        </p:grpSpPr>
        <p:sp>
          <p:nvSpPr>
            <p:cNvPr id="7" name="TextBox 7"/>
            <p:cNvSpPr txBox="1"/>
            <p:nvPr/>
          </p:nvSpPr>
          <p:spPr>
            <a:xfrm>
              <a:off x="0" y="1667335"/>
              <a:ext cx="7975394" cy="76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550"/>
                </a:lnSpc>
              </a:pPr>
              <a:r>
                <a:rPr lang="en-US" sz="3500" b="1" spc="10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Limitaciones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7975394" cy="1689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9945"/>
                </a:lnSpc>
              </a:pPr>
              <a:r>
                <a:rPr lang="en-US" sz="7650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Alcances y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01359" y="4418917"/>
            <a:ext cx="3421097" cy="30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310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¿Que hace el sistema?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4418917"/>
            <a:ext cx="4084778" cy="30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310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¿Que NO hace el sistema?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43340" y="4838520"/>
            <a:ext cx="4375537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Comparar precios de alimentos y productos para mascotas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43340" y="5593027"/>
            <a:ext cx="4375537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Mostrar historial y variaciones de precios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3340" y="6347534"/>
            <a:ext cx="4375537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Permitir búsqueda, favoritos y vista de detalles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43340" y="7102041"/>
            <a:ext cx="4375537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Módulo de administración básico (usuarios y datos)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88244" y="4838520"/>
            <a:ext cx="3996291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Cobertura limitada de tiendas y productos.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88244" y="5593027"/>
            <a:ext cx="3996291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Actualización de precios no en tiempo real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88244" y="6347534"/>
            <a:ext cx="3996291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Depende del funcionamiento de las tiendas externas (scraping)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88244" y="7102041"/>
            <a:ext cx="3996291" cy="64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Compatible solo con dispositivos Android en esta versión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8281243">
            <a:off x="16394865" y="864899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22559" y="356564"/>
            <a:ext cx="8084062" cy="1744405"/>
            <a:chOff x="0" y="-152400"/>
            <a:chExt cx="10778749" cy="232587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427843"/>
              <a:ext cx="10778749" cy="745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96"/>
                </a:lnSpc>
              </a:pPr>
              <a:r>
                <a:rPr lang="en-US" sz="3381" b="1" spc="1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del Software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52400"/>
              <a:ext cx="10778749" cy="15829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8"/>
                </a:lnSpc>
              </a:pPr>
              <a:r>
                <a:rPr lang="en-US" sz="7350" b="1" err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Arquitectura</a:t>
              </a:r>
              <a:endParaRPr lang="es-ES" err="1"/>
            </a:p>
          </p:txBody>
        </p:sp>
      </p:grp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8AAB6E5B-72F6-00DB-E25A-9AA48FDD8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064" y="1575707"/>
            <a:ext cx="13190763" cy="8714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8106117" y="2510446"/>
            <a:ext cx="2169451" cy="2169451"/>
          </a:xfrm>
          <a:custGeom>
            <a:avLst/>
            <a:gdLst/>
            <a:ahLst/>
            <a:cxnLst/>
            <a:rect l="l" t="t" r="r" b="b"/>
            <a:pathLst>
              <a:path w="2169451" h="2169451">
                <a:moveTo>
                  <a:pt x="0" y="0"/>
                </a:moveTo>
                <a:lnTo>
                  <a:pt x="2169451" y="0"/>
                </a:lnTo>
                <a:lnTo>
                  <a:pt x="2169451" y="2169451"/>
                </a:lnTo>
                <a:lnTo>
                  <a:pt x="0" y="2169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115480" y="4549472"/>
            <a:ext cx="3629082" cy="2041358"/>
          </a:xfrm>
          <a:custGeom>
            <a:avLst/>
            <a:gdLst/>
            <a:ahLst/>
            <a:cxnLst/>
            <a:rect l="l" t="t" r="r" b="b"/>
            <a:pathLst>
              <a:path w="3629082" h="2041358">
                <a:moveTo>
                  <a:pt x="0" y="0"/>
                </a:moveTo>
                <a:lnTo>
                  <a:pt x="3629082" y="0"/>
                </a:lnTo>
                <a:lnTo>
                  <a:pt x="3629082" y="2041359"/>
                </a:lnTo>
                <a:lnTo>
                  <a:pt x="0" y="2041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23461" y="2430497"/>
            <a:ext cx="2249400" cy="2249400"/>
          </a:xfrm>
          <a:custGeom>
            <a:avLst/>
            <a:gdLst/>
            <a:ahLst/>
            <a:cxnLst/>
            <a:rect l="l" t="t" r="r" b="b"/>
            <a:pathLst>
              <a:path w="2249400" h="2249400">
                <a:moveTo>
                  <a:pt x="0" y="0"/>
                </a:moveTo>
                <a:lnTo>
                  <a:pt x="2249400" y="0"/>
                </a:lnTo>
                <a:lnTo>
                  <a:pt x="2249400" y="2249400"/>
                </a:lnTo>
                <a:lnTo>
                  <a:pt x="0" y="2249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636838" y="2093530"/>
            <a:ext cx="2586367" cy="2586367"/>
          </a:xfrm>
          <a:custGeom>
            <a:avLst/>
            <a:gdLst/>
            <a:ahLst/>
            <a:cxnLst/>
            <a:rect l="l" t="t" r="r" b="b"/>
            <a:pathLst>
              <a:path w="2586367" h="2586367">
                <a:moveTo>
                  <a:pt x="0" y="0"/>
                </a:moveTo>
                <a:lnTo>
                  <a:pt x="2586367" y="0"/>
                </a:lnTo>
                <a:lnTo>
                  <a:pt x="2586367" y="2586367"/>
                </a:lnTo>
                <a:lnTo>
                  <a:pt x="0" y="2586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45953" y="4938075"/>
            <a:ext cx="1859230" cy="1859230"/>
          </a:xfrm>
          <a:custGeom>
            <a:avLst/>
            <a:gdLst/>
            <a:ahLst/>
            <a:cxnLst/>
            <a:rect l="l" t="t" r="r" b="b"/>
            <a:pathLst>
              <a:path w="1859230" h="1859230">
                <a:moveTo>
                  <a:pt x="0" y="0"/>
                </a:moveTo>
                <a:lnTo>
                  <a:pt x="1859230" y="0"/>
                </a:lnTo>
                <a:lnTo>
                  <a:pt x="1859230" y="1859230"/>
                </a:lnTo>
                <a:lnTo>
                  <a:pt x="0" y="1859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036749" y="6275842"/>
            <a:ext cx="2107251" cy="2107251"/>
          </a:xfrm>
          <a:custGeom>
            <a:avLst/>
            <a:gdLst/>
            <a:ahLst/>
            <a:cxnLst/>
            <a:rect l="l" t="t" r="r" b="b"/>
            <a:pathLst>
              <a:path w="2107251" h="2107251">
                <a:moveTo>
                  <a:pt x="0" y="0"/>
                </a:moveTo>
                <a:lnTo>
                  <a:pt x="2107251" y="0"/>
                </a:lnTo>
                <a:lnTo>
                  <a:pt x="2107251" y="2107251"/>
                </a:lnTo>
                <a:lnTo>
                  <a:pt x="0" y="21072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023461" y="6892165"/>
            <a:ext cx="3260837" cy="1267650"/>
          </a:xfrm>
          <a:custGeom>
            <a:avLst/>
            <a:gdLst/>
            <a:ahLst/>
            <a:cxnLst/>
            <a:rect l="l" t="t" r="r" b="b"/>
            <a:pathLst>
              <a:path w="3260837" h="1267650">
                <a:moveTo>
                  <a:pt x="0" y="0"/>
                </a:moveTo>
                <a:lnTo>
                  <a:pt x="3260837" y="0"/>
                </a:lnTo>
                <a:lnTo>
                  <a:pt x="3260837" y="1267650"/>
                </a:lnTo>
                <a:lnTo>
                  <a:pt x="0" y="1267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740490" y="1959476"/>
            <a:ext cx="6518810" cy="1827557"/>
            <a:chOff x="0" y="0"/>
            <a:chExt cx="8691747" cy="243674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667335"/>
              <a:ext cx="8691747" cy="769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550"/>
                </a:lnSpc>
              </a:pPr>
              <a:r>
                <a:rPr lang="en-US" sz="3500" b="1" spc="10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utilizadas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8691747" cy="1689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9945"/>
                </a:lnSpc>
              </a:pPr>
              <a:r>
                <a:rPr lang="en-US" sz="7650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Tecnologias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8281243">
            <a:off x="16394865" y="864899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693936" y="4027291"/>
            <a:ext cx="735006" cy="995698"/>
          </a:xfrm>
          <a:custGeom>
            <a:avLst/>
            <a:gdLst/>
            <a:ahLst/>
            <a:cxnLst/>
            <a:rect l="l" t="t" r="r" b="b"/>
            <a:pathLst>
              <a:path w="735006" h="995698">
                <a:moveTo>
                  <a:pt x="0" y="0"/>
                </a:moveTo>
                <a:lnTo>
                  <a:pt x="735006" y="0"/>
                </a:lnTo>
                <a:lnTo>
                  <a:pt x="735006" y="995697"/>
                </a:lnTo>
                <a:lnTo>
                  <a:pt x="0" y="995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5934149" y="6450366"/>
            <a:ext cx="734295" cy="785725"/>
          </a:xfrm>
          <a:custGeom>
            <a:avLst/>
            <a:gdLst/>
            <a:ahLst/>
            <a:cxnLst/>
            <a:rect l="l" t="t" r="r" b="b"/>
            <a:pathLst>
              <a:path w="734295" h="785725">
                <a:moveTo>
                  <a:pt x="0" y="0"/>
                </a:moveTo>
                <a:lnTo>
                  <a:pt x="734296" y="0"/>
                </a:lnTo>
                <a:lnTo>
                  <a:pt x="734296" y="785725"/>
                </a:lnTo>
                <a:lnTo>
                  <a:pt x="0" y="7857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693936" y="6450366"/>
            <a:ext cx="716656" cy="828069"/>
          </a:xfrm>
          <a:custGeom>
            <a:avLst/>
            <a:gdLst/>
            <a:ahLst/>
            <a:cxnLst/>
            <a:rect l="l" t="t" r="r" b="b"/>
            <a:pathLst>
              <a:path w="716656" h="828069">
                <a:moveTo>
                  <a:pt x="0" y="0"/>
                </a:moveTo>
                <a:lnTo>
                  <a:pt x="716656" y="0"/>
                </a:lnTo>
                <a:lnTo>
                  <a:pt x="716656" y="828069"/>
                </a:lnTo>
                <a:lnTo>
                  <a:pt x="0" y="828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5915622" y="4140911"/>
            <a:ext cx="771350" cy="768458"/>
          </a:xfrm>
          <a:custGeom>
            <a:avLst/>
            <a:gdLst/>
            <a:ahLst/>
            <a:cxnLst/>
            <a:rect l="l" t="t" r="r" b="b"/>
            <a:pathLst>
              <a:path w="771350" h="768458">
                <a:moveTo>
                  <a:pt x="0" y="0"/>
                </a:moveTo>
                <a:lnTo>
                  <a:pt x="771350" y="0"/>
                </a:lnTo>
                <a:lnTo>
                  <a:pt x="771350" y="768457"/>
                </a:lnTo>
                <a:lnTo>
                  <a:pt x="0" y="7684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1784128" y="2728068"/>
            <a:ext cx="5077445" cy="10046597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1"/>
              <a:stretch>
                <a:fillRect l="-4413" t="-2822" r="-5638" b="-5517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9255637" y="5624826"/>
            <a:ext cx="4245624" cy="8400697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2"/>
              <a:stretch>
                <a:fillRect l="-4082" t="-3231" r="-4283" b="-4599"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700457" y="5168058"/>
            <a:ext cx="2721964" cy="37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342" b="1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Comparar precios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40315" y="5168058"/>
            <a:ext cx="2721964" cy="37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342" b="1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Buscar productos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0457" y="7457087"/>
            <a:ext cx="2721964" cy="76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342" b="1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Revisar el historial de variaciones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40315" y="7457087"/>
            <a:ext cx="2721964" cy="37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342" b="1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Guardar favoritos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28700" y="1471567"/>
            <a:ext cx="8084062" cy="1765717"/>
            <a:chOff x="0" y="0"/>
            <a:chExt cx="10778749" cy="2354289"/>
          </a:xfrm>
        </p:grpSpPr>
        <p:sp>
          <p:nvSpPr>
            <p:cNvPr id="38" name="TextBox 38"/>
            <p:cNvSpPr txBox="1"/>
            <p:nvPr/>
          </p:nvSpPr>
          <p:spPr>
            <a:xfrm>
              <a:off x="0" y="1608660"/>
              <a:ext cx="10778749" cy="7456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96"/>
                </a:lnSpc>
              </a:pPr>
              <a:r>
                <a:rPr lang="en-US" sz="3381" b="1" spc="10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del Sistema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52400"/>
              <a:ext cx="10778749" cy="1646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608"/>
                </a:lnSpc>
              </a:pPr>
              <a:r>
                <a:rPr lang="en-US" sz="7391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Funcionamiento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 rot="8281243">
            <a:off x="16394865" y="8648990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875107" y="3812910"/>
            <a:ext cx="4537786" cy="8978789"/>
            <a:chOff x="0" y="0"/>
            <a:chExt cx="2620010" cy="5184140"/>
          </a:xfrm>
        </p:grpSpPr>
        <p:sp>
          <p:nvSpPr>
            <p:cNvPr id="10" name="Freeform 1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64895" r="-12165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2174944" y="3502406"/>
            <a:ext cx="2836426" cy="5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310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Sin compra directa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2432068" y="4492418"/>
            <a:ext cx="979984" cy="0"/>
          </a:xfrm>
          <a:prstGeom prst="line">
            <a:avLst/>
          </a:prstGeom>
          <a:ln w="38100" cap="flat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2174944" y="4079864"/>
            <a:ext cx="979984" cy="0"/>
          </a:xfrm>
          <a:prstGeom prst="line">
            <a:avLst/>
          </a:prstGeom>
          <a:ln w="38100" cap="flat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2174944" y="6487429"/>
            <a:ext cx="3353299" cy="5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310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Comparación limitada</a:t>
            </a:r>
          </a:p>
        </p:txBody>
      </p:sp>
      <p:sp>
        <p:nvSpPr>
          <p:cNvPr id="23" name="AutoShape 23"/>
          <p:cNvSpPr/>
          <p:nvPr/>
        </p:nvSpPr>
        <p:spPr>
          <a:xfrm>
            <a:off x="2174944" y="7064887"/>
            <a:ext cx="979984" cy="0"/>
          </a:xfrm>
          <a:prstGeom prst="line">
            <a:avLst/>
          </a:prstGeom>
          <a:ln w="38100" cap="flat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2432068" y="7071497"/>
            <a:ext cx="979984" cy="0"/>
          </a:xfrm>
          <a:prstGeom prst="line">
            <a:avLst/>
          </a:prstGeom>
          <a:ln w="38100" cap="flat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5528243" y="1028700"/>
            <a:ext cx="7231514" cy="1227361"/>
            <a:chOff x="0" y="0"/>
            <a:chExt cx="9642019" cy="1636482"/>
          </a:xfrm>
        </p:grpSpPr>
        <p:sp>
          <p:nvSpPr>
            <p:cNvPr id="26" name="TextBox 26"/>
            <p:cNvSpPr txBox="1"/>
            <p:nvPr/>
          </p:nvSpPr>
          <p:spPr>
            <a:xfrm>
              <a:off x="0" y="142875"/>
              <a:ext cx="3258797" cy="1493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63"/>
                </a:lnSpc>
              </a:pPr>
              <a:r>
                <a:rPr lang="en-US" sz="8112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22113" y="142875"/>
              <a:ext cx="7119906" cy="14936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463"/>
                </a:lnSpc>
              </a:pPr>
              <a:r>
                <a:rPr lang="en-US" sz="8112" b="1">
                  <a:solidFill>
                    <a:srgbClr val="259D8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tricciones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432068" y="3810185"/>
            <a:ext cx="3026049" cy="567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310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restringida de usuarios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432068" y="4586441"/>
            <a:ext cx="3996291" cy="2211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just">
              <a:lnSpc>
                <a:spcPts val="2489"/>
              </a:lnSpc>
              <a:buFont typeface="Arial"/>
              <a:buChar char="•"/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El administrador no puede modificar su propia contraseña </a:t>
            </a:r>
          </a:p>
          <a:p>
            <a:pPr marL="410211" lvl="1" indent="-205106" algn="just">
              <a:lnSpc>
                <a:spcPts val="2489"/>
              </a:lnSpc>
              <a:spcBef>
                <a:spcPct val="0"/>
              </a:spcBef>
              <a:buFont typeface="Arial"/>
              <a:buChar char="•"/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Tampoco puede editar las contraseñas de otros usuarios</a:t>
            </a:r>
          </a:p>
          <a:p>
            <a:pPr marL="0" lvl="0" indent="0" algn="just">
              <a:lnSpc>
                <a:spcPts val="2489"/>
              </a:lnSpc>
              <a:spcBef>
                <a:spcPct val="0"/>
              </a:spcBef>
            </a:pPr>
            <a:endParaRPr lang="en-US" sz="1900">
              <a:solidFill>
                <a:srgbClr val="37373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174944" y="4332859"/>
            <a:ext cx="3996291" cy="1583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La aplicación no permite realizar compras directamente; solo muestra y compara precios de productos publicados por tiendas externas.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174944" y="7419837"/>
            <a:ext cx="3680988" cy="189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Solo se pueden comparar precios del mismo producto entre distintas tiendas. No se permite comparar productos diferentes (por ejemplo, distintas marcas o formatos).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32068" y="6654794"/>
            <a:ext cx="2504586" cy="301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2310" b="1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Filtros limitados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32068" y="7281047"/>
            <a:ext cx="4983083" cy="126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  <a:spcBef>
                <a:spcPct val="0"/>
              </a:spcBef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En esta versión inicial, no se filtra por peso del envase (kilos por bolsa), sabor, tipo de mascota o formato de presentación.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03734" y="2035603"/>
            <a:ext cx="6680533" cy="121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98"/>
              </a:lnSpc>
            </a:pPr>
            <a:r>
              <a:rPr lang="en-US" sz="9020" b="1">
                <a:solidFill>
                  <a:srgbClr val="70707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Conclusión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424504" y="4175697"/>
            <a:ext cx="11438992" cy="189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89"/>
              </a:lnSpc>
            </a:pPr>
            <a:r>
              <a:rPr lang="en-US" sz="19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El desarrollo de PetPrice posibilitó que el equipo mejorara sus habilidades para analizar, diseñar y poner en marcha aplicaciones móviles que integran datos externos. Fue necesario entender la estructura interna de varias páginas web, gestionar la extracción de datos de manera eficaz y ética, y desarrollar un sistema que pueda ajustarse a eventuales modificaciones en las páginas fuente. Este procedimiento nos ayudó a apreciar la relevancia de validar los datos, manejar los errores y automatizar controladamente.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43" r="-1164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995387" y="2705956"/>
            <a:ext cx="10297225" cy="3042938"/>
            <a:chOff x="0" y="0"/>
            <a:chExt cx="13729634" cy="4057251"/>
          </a:xfrm>
        </p:grpSpPr>
        <p:sp>
          <p:nvSpPr>
            <p:cNvPr id="4" name="TextBox 4"/>
            <p:cNvSpPr txBox="1"/>
            <p:nvPr/>
          </p:nvSpPr>
          <p:spPr>
            <a:xfrm>
              <a:off x="0" y="346780"/>
              <a:ext cx="8426193" cy="3710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486"/>
                </a:lnSpc>
              </a:pPr>
              <a:r>
                <a:rPr lang="en-US" sz="20093" b="1">
                  <a:solidFill>
                    <a:srgbClr val="70707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Grac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426193" y="342900"/>
              <a:ext cx="5303440" cy="3710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486"/>
                </a:lnSpc>
              </a:pPr>
              <a:r>
                <a:rPr lang="en-US" sz="20093" b="1">
                  <a:solidFill>
                    <a:srgbClr val="259D8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ias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 rot="8281243">
            <a:off x="16394865" y="8648990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0" cap="sq">
              <a:gradFill>
                <a:gsLst>
                  <a:gs pos="0">
                    <a:srgbClr val="30C2B7">
                      <a:alpha val="100000"/>
                    </a:srgbClr>
                  </a:gs>
                  <a:gs pos="33333">
                    <a:srgbClr val="70E1A6">
                      <a:alpha val="100000"/>
                    </a:srgbClr>
                  </a:gs>
                  <a:gs pos="66667">
                    <a:srgbClr val="96EFC1">
                      <a:alpha val="100000"/>
                    </a:srgbClr>
                  </a:gs>
                  <a:gs pos="100000">
                    <a:srgbClr val="96EFC1">
                      <a:alpha val="95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-651702" y="8506649"/>
            <a:ext cx="1948521" cy="2471962"/>
            <a:chOff x="0" y="0"/>
            <a:chExt cx="513191" cy="651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3191" cy="651052"/>
            </a:xfrm>
            <a:custGeom>
              <a:avLst/>
              <a:gdLst/>
              <a:ahLst/>
              <a:cxnLst/>
              <a:rect l="l" t="t" r="r" b="b"/>
              <a:pathLst>
                <a:path w="513191" h="651052">
                  <a:moveTo>
                    <a:pt x="246340" y="0"/>
                  </a:moveTo>
                  <a:lnTo>
                    <a:pt x="266850" y="0"/>
                  </a:lnTo>
                  <a:cubicBezTo>
                    <a:pt x="332184" y="0"/>
                    <a:pt x="394841" y="25954"/>
                    <a:pt x="441039" y="72151"/>
                  </a:cubicBezTo>
                  <a:cubicBezTo>
                    <a:pt x="487237" y="118349"/>
                    <a:pt x="513191" y="181007"/>
                    <a:pt x="513191" y="246340"/>
                  </a:cubicBezTo>
                  <a:lnTo>
                    <a:pt x="513191" y="404712"/>
                  </a:lnTo>
                  <a:cubicBezTo>
                    <a:pt x="513191" y="470045"/>
                    <a:pt x="487237" y="532703"/>
                    <a:pt x="441039" y="578900"/>
                  </a:cubicBezTo>
                  <a:cubicBezTo>
                    <a:pt x="394841" y="625098"/>
                    <a:pt x="332184" y="651052"/>
                    <a:pt x="266850" y="651052"/>
                  </a:cubicBezTo>
                  <a:lnTo>
                    <a:pt x="246340" y="651052"/>
                  </a:lnTo>
                  <a:cubicBezTo>
                    <a:pt x="181007" y="651052"/>
                    <a:pt x="118349" y="625098"/>
                    <a:pt x="72151" y="578900"/>
                  </a:cubicBezTo>
                  <a:cubicBezTo>
                    <a:pt x="25954" y="532703"/>
                    <a:pt x="0" y="470045"/>
                    <a:pt x="0" y="404712"/>
                  </a:cubicBezTo>
                  <a:lnTo>
                    <a:pt x="0" y="246340"/>
                  </a:lnTo>
                  <a:cubicBezTo>
                    <a:pt x="0" y="181007"/>
                    <a:pt x="25954" y="118349"/>
                    <a:pt x="72151" y="72151"/>
                  </a:cubicBezTo>
                  <a:cubicBezTo>
                    <a:pt x="118349" y="25954"/>
                    <a:pt x="181007" y="0"/>
                    <a:pt x="246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0C2B7">
                    <a:alpha val="100000"/>
                  </a:srgbClr>
                </a:gs>
                <a:gs pos="33333">
                  <a:srgbClr val="70E1A6">
                    <a:alpha val="100000"/>
                  </a:srgbClr>
                </a:gs>
                <a:gs pos="66667">
                  <a:srgbClr val="96EFC1">
                    <a:alpha val="54000"/>
                  </a:srgbClr>
                </a:gs>
                <a:gs pos="100000">
                  <a:srgbClr val="96EFC1">
                    <a:alpha val="95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513191" cy="708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049189" y="4883915"/>
            <a:ext cx="8074983" cy="269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86"/>
              </a:lnSpc>
            </a:pPr>
            <a:r>
              <a:rPr lang="en-US" sz="20093" b="1">
                <a:solidFill>
                  <a:srgbClr val="707070"/>
                </a:solidFill>
                <a:latin typeface="Poppins Bold"/>
                <a:ea typeface="Poppins Bold"/>
                <a:cs typeface="Poppins Bold"/>
                <a:sym typeface="Poppins Bold"/>
              </a:rPr>
              <a:t>ver!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61611" y="4883915"/>
            <a:ext cx="4466114" cy="269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86"/>
              </a:lnSpc>
            </a:pPr>
            <a:r>
              <a:rPr lang="en-US" sz="20093" b="1">
                <a:solidFill>
                  <a:srgbClr val="259D84"/>
                </a:solidFill>
                <a:latin typeface="Poppins Bold"/>
                <a:ea typeface="Poppins Bold"/>
                <a:cs typeface="Poppins Bold"/>
                <a:sym typeface="Poppins Bold"/>
              </a:rPr>
              <a:t>por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fase2 Petprice</dc:title>
  <cp:revision>1</cp:revision>
  <dcterms:created xsi:type="dcterms:W3CDTF">2006-08-16T00:00:00Z</dcterms:created>
  <dcterms:modified xsi:type="dcterms:W3CDTF">2025-11-21T23:01:56Z</dcterms:modified>
  <dc:identifier>DAG1Chp5Bho</dc:identifier>
</cp:coreProperties>
</file>